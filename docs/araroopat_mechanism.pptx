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AraRooPat — how the mechanism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Arial"/>
                <a:cs typeface="Arial"/>
                <a:ea typeface="Arial"/>
              </a:rPr>
              <a:t>every word takes exactly one of six paths  ·  each slide names the function that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FOUR LAYERS, TWO PROCESSES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52928"/>
            <a:ext cx="2606040" cy="1481328"/>
          </a:xfrm>
          <a:prstGeom prst="roundRect">
            <a:avLst>
              <a:gd name="adj" fmla="val 10000"/>
            </a:avLst>
          </a:prstGeom>
          <a:solidFill>
            <a:srgbClr val="1B253B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Consolas"/>
                <a:cs typeface="Consolas"/>
                <a:ea typeface="Consolas"/>
              </a:rPr>
              <a:t>tokenizers/araroopat.py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encode · decode · vocab construction
the two state machines live here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main .venv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852928"/>
            <a:ext cx="2606040" cy="1481328"/>
          </a:xfrm>
          <a:prstGeom prst="roundRect">
            <a:avLst>
              <a:gd name="adj" fmla="val 10000"/>
            </a:avLst>
          </a:prstGeom>
          <a:solidFill>
            <a:srgbClr val="1B253B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tokenizers/araroopat_backend.py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Analysis dataclass · root &amp; pattern
normalization · clitic tables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main .venv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852928"/>
            <a:ext cx="2606040" cy="1481328"/>
          </a:xfrm>
          <a:prstGeom prst="roundRect">
            <a:avLst>
              <a:gd name="adj" fmla="val 10000"/>
            </a:avLst>
          </a:prstGeom>
          <a:solidFill>
            <a:srgbClr val="1B253B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tokenizers/araroopat_bridge.py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NDJSON client · spawns the server
per-request timeouts · fail-loud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main .venv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852928"/>
            <a:ext cx="2606040" cy="1481328"/>
          </a:xfrm>
          <a:prstGeom prst="roundRect">
            <a:avLst>
              <a:gd name="adj" fmla="val 10000"/>
            </a:avLst>
          </a:prstGeom>
          <a:solidFill>
            <a:srgbClr val="1B253B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tools/araroopat_camel_server.py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95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imports camel_tools · MLE
disambiguation · generation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.venv-camel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Arial"/>
                <a:cs typeface="Arial"/>
                <a:ea typeface="Arial"/>
              </a:rPr>
              <a:t>camel-tools pins numpy&lt;2 and transformers&lt;4.54, which breaks lighteval — so it lives in its own virtualenv and is reached over stdin/stdout NDJSON. There is no in-process import and no degraded mode: a missing .venv-camel raises CamelBridgeError.</a:t>
            </a:r>
          </a:p>
          <a:p>
            <a:pPr algn="l" rtl="0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Arial"/>
                <a:cs typeface="Arial"/>
                <a:ea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40680"/>
            <a:ext cx="10543032" cy="658368"/>
          </a:xfrm>
          <a:prstGeom prst="roundRect">
            <a:avLst>
              <a:gd name="adj" fmla="val 10000"/>
            </a:avLst>
          </a:prstGeom>
          <a:solidFill>
            <a:srgbClr val="1B2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rial"/>
                <a:cs typeface="Arial"/>
                <a:ea typeface="Arial"/>
              </a:rPr>
              <a:t>الكتاب  →  [CLITICP_ال] [ROOT_كتب] [PAT_1ِ2ا3ِ]  →  الكتاب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Every path a word can 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One decision tree. Each leaf is a different token shape; the colour follows through the whole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4206240" cy="420624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whitespace word</a:t>
            </a:r>
          </a:p>
        </p:txBody>
      </p:sp>
      <p:sp>
        <p:nvSpPr>
          <p:cNvPr id="6" name="Down Arrow 5"/>
          <p:cNvSpPr/>
          <p:nvPr/>
        </p:nvSpPr>
        <p:spPr>
          <a:xfrm>
            <a:off x="2532888" y="1627632"/>
            <a:ext cx="146304" cy="118872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420624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_encode_word()   araroopat.py:548</a:t>
            </a:r>
          </a:p>
          <a:p>
            <a:pPr algn="ctr" rtl="0">
              <a:spcAft>
                <a:spcPts val="0"/>
              </a:spcAft>
            </a:pPr>
            <a:r>
              <a:rPr sz="88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cut into runs by _classify_char(): alpha · digit · punct · other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2532888" y="2340864"/>
            <a:ext cx="146304" cy="118872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496312"/>
            <a:ext cx="4206240" cy="4572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run class = alpha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_emit_alpha()   araroopat.py:577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532888" y="2999232"/>
            <a:ext cx="146304" cy="118872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420624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MorphAnalyzer.analyze() → bridge → CAMeL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_first_valid() walks candidates in MLE score order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532888" y="3712463"/>
            <a:ext cx="146304" cy="118872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867912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does _dict_to_analysis() accept it?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araroopat_backend.py:328   — four gates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532888" y="4443984"/>
            <a:ext cx="146304" cy="118872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599432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are [ROOT_x] AND [PAT_y] both in vocab?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all-or-nothing: one miss discards the other token too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532888" y="5175504"/>
            <a:ext cx="146304" cy="118872"/>
          </a:xfrm>
          <a:prstGeom prst="down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330952"/>
            <a:ext cx="4206240" cy="786384"/>
          </a:xfrm>
          <a:prstGeom prst="roundRect">
            <a:avLst>
              <a:gd name="adj" fmla="val 1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① CLITICP* · ROOT · PAT · CLITICE*</a:t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DCFCE7"/>
                </a:solidFill>
                <a:latin typeface="Arial"/>
                <a:cs typeface="Arial"/>
                <a:ea typeface="Arial"/>
              </a:rPr>
              <a:t>والكتاب → [CLITICP_و] [CLITICP_ال] [ROOT_كتب] [PAT_1ُ2ّا3ِ]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45736" y="4069080"/>
            <a:ext cx="201168" cy="128016"/>
          </a:xfrm>
          <a:prstGeom prst="rightArrow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92040" y="3867912"/>
            <a:ext cx="2788920" cy="530352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no</a:t>
            </a:r>
          </a:p>
          <a:p>
            <a:pPr algn="ctr" rtl="0">
              <a:spcAft>
                <a:spcPts val="0"/>
              </a:spcAft>
            </a:pPr>
            <a:r>
              <a:rPr sz="819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no — CAMeL cannot decompose it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45736" y="4800600"/>
            <a:ext cx="201168" cy="128016"/>
          </a:xfrm>
          <a:prstGeom prst="rightArrow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92040" y="4599432"/>
            <a:ext cx="2788920" cy="530352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no</a:t>
            </a:r>
          </a:p>
          <a:p>
            <a:pPr algn="ctr" rtl="0">
              <a:spcAft>
                <a:spcPts val="0"/>
              </a:spcAft>
            </a:pPr>
            <a:r>
              <a:rPr sz="819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no — out of vocabulary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263640" y="5175504"/>
            <a:ext cx="146304" cy="118872"/>
          </a:xfrm>
          <a:prstGeom prst="downArrow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5330952"/>
            <a:ext cx="2788920" cy="786384"/>
          </a:xfrm>
          <a:prstGeom prst="roundRect">
            <a:avLst>
              <a:gd name="adj" fmla="val 1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② _emit_lit()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FFE4E6"/>
                </a:solidFill>
                <a:latin typeface="Arial"/>
                <a:cs typeface="Arial"/>
                <a:ea typeface="Arial"/>
              </a:rPr>
              <a:t>[LIT_BEGIN] [CHAR_*]… [LIT_END]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496312"/>
            <a:ext cx="3685032" cy="402336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run class = digit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935224"/>
            <a:ext cx="3685032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_emit_atom() — one token per character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282696"/>
            <a:ext cx="3685032" cy="36576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③  2024 → [DIGIT_2][DIGIT_0][DIGIT_2][DIGIT_4]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765792" y="2898648"/>
            <a:ext cx="128016" cy="36576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01000" y="3813048"/>
            <a:ext cx="3685032" cy="402336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run class = punct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4251960"/>
            <a:ext cx="3685032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_emit_atom() — one token per character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4599432"/>
            <a:ext cx="3685032" cy="36576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④  ! → [PUNCT_!]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765792" y="4215384"/>
            <a:ext cx="128016" cy="36576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1000" y="5129783"/>
            <a:ext cx="3685032" cy="40233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run class = other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5568696"/>
            <a:ext cx="3685032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Latin · ى · ٱ · emoji — never analysed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5916168"/>
            <a:ext cx="368503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⑤  &lt;unk&gt;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9765792" y="5532120"/>
            <a:ext cx="128016" cy="36576"/>
          </a:xfrm>
          <a:prstGeom prst="downArrow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⑥ A clitic surface that is not in the vocabulary for its kind also falls to _emit_lit() — see _emit_clitic(). Six leaves in total; the whole word takes one path, never a mixture.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Path ① — root +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design case: the word becomes two discrete symbols, and the model never sees the surface string.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7396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emission order is fixed — outermost proclitic first, enclitic last:   prc3 · prc2 · prc1 · prc0 · ROOT · PAT · enc0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1051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كتب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810512"/>
            <a:ext cx="58064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[ROOT_كتب] [PAT_1َ2َ3َ]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10512"/>
            <a:ext cx="3776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sound triliteral, no clitics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22576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22576"/>
            <a:ext cx="58064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[ROOT_ذهب] [PAT_يَ1ْ2َ3]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322576"/>
            <a:ext cx="3776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present-tense ي is inside the PATTERN, not a clitic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يذهبون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834640"/>
            <a:ext cx="58064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[ROOT_ذهب] [PAT_يَ1ْ2َ3ُونَ]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834640"/>
            <a:ext cx="3776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same root, inflection rides the pattern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46704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المدرسة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346704"/>
            <a:ext cx="58064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[CLITICP_ال] [ROOT_درس] [PAT_مَ1ْ2َ3َةِ]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346704"/>
            <a:ext cx="3776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article split off as its own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5876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وكتابه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3858768"/>
            <a:ext cx="58064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[CLITICP_و] [ROOT_كتب] [PAT_1ِ2ا3] [CLITICE_ه]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858768"/>
            <a:ext cx="3776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proclitic + enclitic around the 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70832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قرأته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370832"/>
            <a:ext cx="58064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143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[ROOT_قر#] [PAT_1َ2َأَت] [CLITICE_ه]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370832"/>
            <a:ext cx="3776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masked radical + enclitic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1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the call 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85232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encode()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araroopat.py:508</a:t>
            </a:r>
          </a:p>
          <a:p>
            <a:pPr algn="ctr" rtl="0">
              <a:spcAft>
                <a:spcPts val="0"/>
              </a:spcAft>
            </a:pPr>
            <a:r>
              <a:rPr sz="819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BOS, NFKC, split on whitespace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300984" y="5550408"/>
            <a:ext cx="118872" cy="128016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65576" y="5285232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_encode_word()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araroopat.py:548</a:t>
            </a:r>
          </a:p>
          <a:p>
            <a:pPr algn="ctr" rtl="0">
              <a:spcAft>
                <a:spcPts val="0"/>
              </a:spcAft>
            </a:pPr>
            <a:r>
              <a:rPr sz="819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runs by character class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263640" y="5550408"/>
            <a:ext cx="118872" cy="128016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8232" y="5285232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_emit_alpha()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araroopat.py:577</a:t>
            </a:r>
          </a:p>
          <a:p>
            <a:pPr algn="ctr" rtl="0">
              <a:spcAft>
                <a:spcPts val="0"/>
              </a:spcAft>
            </a:pPr>
            <a:r>
              <a:rPr sz="819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analyse, then look up both tokens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26296" y="5550408"/>
            <a:ext cx="118872" cy="128016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90888" y="5285232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_emit_clitic()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araroopat.py:608</a:t>
            </a:r>
          </a:p>
          <a:p>
            <a:pPr algn="ctr" rtl="0">
              <a:spcAft>
                <a:spcPts val="0"/>
              </a:spcAft>
            </a:pPr>
            <a:r>
              <a:rPr sz="819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kind='p' / 'e' picks the prefix range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TokenizerOutput.tokens carries cleaned Arabic surface strings in parallel with the ids — the morphological metrics read those, never the vocabulary strings.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Clitics — how the pattern is cleaned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CAMeL bakes clitic surface characters into the pattern. They are stripped so a PAT token is a bare-stem template.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1173968" cy="42062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prc* and enc0 are FEATURE TAGS, not Arabic:  'wa_conj' → و  ·  'Al_det' → ال  ·  '3ms_dobj' → ه     translated by clitic_surface()  araroopat_backend.py:182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566928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1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normalize_pattern()  araroopat_backend.py:304  — والكتاب, step by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29968"/>
            <a:ext cx="205740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CAMeL raw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3472" y="2029968"/>
            <a:ext cx="178308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وَال1ُ2ّا3ِ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029968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prc2='wa_conj' → و,  prc0='Al_det' → ال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59736"/>
            <a:ext cx="205740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strip prc3 (none)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2459736"/>
            <a:ext cx="178308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وَال1ُ2ّا3ِ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459736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outermost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89504"/>
            <a:ext cx="205740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strip prc2  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3472" y="2889504"/>
            <a:ext cx="1783080" cy="38404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ال1ُ2ّا3ِ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2889504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_strip_clitic_from_start skips the fatha too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19272"/>
            <a:ext cx="205740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strip prc1 (none)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33472" y="3319272"/>
            <a:ext cx="178308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ال1ُ2ّا3ِ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3319272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205740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strip prc0  ال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33472" y="3749039"/>
            <a:ext cx="1783080" cy="38404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1ُ2ّا3ِ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3749039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← the bare-stem template stored in vocab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97680"/>
            <a:ext cx="7242048" cy="84124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Order matters — outer to inner</a:t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CAMeL stacks prc3 (question) &gt; prc2 (conjunction) &gt; prc1 (preposition/future) &gt; prc0 (article). Strip in that order or a later clitic partial-matches an earlier position.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1719072"/>
            <a:ext cx="3776472" cy="3419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1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the لِ + الـ contraction</a:t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Arabic writes one lam, not two:</a:t>
            </a:r>
          </a:p>
          <a:p>
            <a:pPr algn="ctr" rtl="0">
              <a:spcAft>
                <a:spcPts val="100"/>
              </a:spcAft>
            </a:pPr>
            <a:r>
              <a:rPr sz="14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لِ + الوَلَد  →  لِلوَلَد</a:t>
            </a:r>
          </a:p>
          <a:p>
            <a:pPr algn="ctr" rtl="0">
              <a:spcAft>
                <a:spcPts val="10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100"/>
              </a:spcAft>
            </a:pPr>
            <a:r>
              <a:rPr sz="86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so the article's surface is ل, not ال, and a</a:t>
            </a:r>
          </a:p>
          <a:p>
            <a:pPr algn="ctr" rtl="0">
              <a:spcAft>
                <a:spcPts val="100"/>
              </a:spcAft>
            </a:pPr>
            <a:r>
              <a:rPr sz="86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literal strip of ال silently fails:</a:t>
            </a:r>
          </a:p>
          <a:p>
            <a:pPr algn="ctr" rtl="0">
              <a:spcAft>
                <a:spcPts val="100"/>
              </a:spcAft>
            </a:pPr>
            <a:r>
              <a:rPr sz="100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لِل1ِ2ا3ِ → ل1ِ2ا3ِ   ✗ stray lam</a:t>
            </a:r>
          </a:p>
          <a:p>
            <a:pPr algn="ctr" rtl="0">
              <a:spcAft>
                <a:spcPts val="100"/>
              </a:spcAft>
            </a:pPr>
            <a:r>
              <a:rPr sz="100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لِل1ِ2ا3ِ → 1ِ2ا3ِ    ✓ handled</a:t>
            </a:r>
          </a:p>
          <a:p>
            <a:pPr algn="ctr" rtl="0">
              <a:spcAft>
                <a:spcPts val="10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l" rtl="0">
              <a:spcAft>
                <a:spcPts val="100"/>
              </a:spcAft>
            </a:pPr>
            <a:r>
              <a:rPr sz="86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encode  strip_proclitics_from_start()</a:t>
            </a:r>
          </a:p>
          <a:p>
            <a:pPr algn="l" rtl="0">
              <a:spcAft>
                <a:spcPts val="100"/>
              </a:spcAft>
            </a:pPr>
            <a:r>
              <a:rPr sz="86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decode  join_proclitics()</a:t>
            </a:r>
          </a:p>
          <a:p>
            <a:pPr algn="ctr" rtl="0">
              <a:spcAft>
                <a:spcPts val="100"/>
              </a:spcAft>
            </a:pPr>
            <a:r>
              <a:rPr sz="9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the two MUST stay inverse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30368"/>
            <a:ext cx="72237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four clitic shapes, one shared pattern token — that is the point of decoupling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41264"/>
            <a:ext cx="175564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الكتاب</a:t>
            </a:r>
          </a:p>
          <a:p>
            <a:pPr algn="ctr" rtl="0">
              <a:spcAft>
                <a:spcPts val="0"/>
              </a:spcAft>
            </a:pPr>
            <a:r>
              <a:rPr sz="760" b="0">
                <a:solidFill>
                  <a:srgbClr val="4338CA"/>
                </a:solidFill>
                <a:latin typeface="Arial"/>
                <a:cs typeface="Arial"/>
                <a:ea typeface="Arial"/>
              </a:rPr>
              <a:t>[CLITICP_ال]</a:t>
            </a:r>
          </a:p>
          <a:p>
            <a:pPr algn="ctr" rtl="0">
              <a:spcAft>
                <a:spcPts val="0"/>
              </a:spcAft>
            </a:pPr>
            <a:r>
              <a:rPr sz="84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[PAT_1ِ2ا3ِ]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22576" y="5541264"/>
            <a:ext cx="175564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لكتاب</a:t>
            </a:r>
          </a:p>
          <a:p>
            <a:pPr algn="ctr" rtl="0">
              <a:spcAft>
                <a:spcPts val="0"/>
              </a:spcAft>
            </a:pPr>
            <a:r>
              <a:rPr sz="760" b="0">
                <a:solidFill>
                  <a:srgbClr val="4338CA"/>
                </a:solidFill>
                <a:latin typeface="Arial"/>
                <a:cs typeface="Arial"/>
                <a:ea typeface="Arial"/>
              </a:rPr>
              <a:t>[CLITICP_ل]</a:t>
            </a:r>
          </a:p>
          <a:p>
            <a:pPr algn="ctr" rtl="0">
              <a:spcAft>
                <a:spcPts val="0"/>
              </a:spcAft>
            </a:pPr>
            <a:r>
              <a:rPr sz="84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[PAT_1ِ2ا3ِ]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42232" y="5541264"/>
            <a:ext cx="175564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للكتاب</a:t>
            </a:r>
          </a:p>
          <a:p>
            <a:pPr algn="ctr" rtl="0">
              <a:spcAft>
                <a:spcPts val="0"/>
              </a:spcAft>
            </a:pPr>
            <a:r>
              <a:rPr sz="760" b="0">
                <a:solidFill>
                  <a:srgbClr val="4338CA"/>
                </a:solidFill>
                <a:latin typeface="Arial"/>
                <a:cs typeface="Arial"/>
                <a:ea typeface="Arial"/>
              </a:rPr>
              <a:t>[CLITICP_ل] [CLITICP_ال]</a:t>
            </a:r>
          </a:p>
          <a:p>
            <a:pPr algn="ctr" rtl="0">
              <a:spcAft>
                <a:spcPts val="0"/>
              </a:spcAft>
            </a:pPr>
            <a:r>
              <a:rPr sz="84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[PAT_1ِ2ا3ِ]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61888" y="5541264"/>
            <a:ext cx="175564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بالكتاب</a:t>
            </a:r>
          </a:p>
          <a:p>
            <a:pPr algn="ctr" rtl="0">
              <a:spcAft>
                <a:spcPts val="0"/>
              </a:spcAft>
            </a:pPr>
            <a:r>
              <a:rPr sz="760" b="0">
                <a:solidFill>
                  <a:srgbClr val="4338CA"/>
                </a:solidFill>
                <a:latin typeface="Arial"/>
                <a:cs typeface="Arial"/>
                <a:ea typeface="Arial"/>
              </a:rPr>
              <a:t>[CLITICP_ب] [CLITICP_ال]</a:t>
            </a:r>
          </a:p>
          <a:p>
            <a:pPr algn="ctr" rtl="0">
              <a:spcAft>
                <a:spcPts val="0"/>
              </a:spcAft>
            </a:pPr>
            <a:r>
              <a:rPr sz="84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[PAT_1ِ2ا3ِ]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masked radical  #  — a radical, not a missing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CAMeL writes # where a root consonant's surface form is not stable across the paradigm: the weak letters و / ي / ا and the hamza family.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532120" cy="1874519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1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one lexeme, one root token</a:t>
            </a:r>
          </a:p>
          <a:p>
            <a:pPr algn="l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قال    root='ق.#.ل'   pattern='1ا3َ'</a:t>
            </a:r>
          </a:p>
          <a:p>
            <a:pPr algn="l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يقول   root='ق.#.ل'   pattern='يَ1ُو3'</a:t>
            </a:r>
          </a:p>
          <a:p>
            <a:pPr algn="l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قول    root='ق.#.ل'   pattern='1َوْ3ِ'</a:t>
            </a:r>
          </a:p>
          <a:p>
            <a:pPr algn="l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أقوال  root='ق.#.ل'   pattern='أَ1ْوا3'</a:t>
            </a:r>
          </a:p>
          <a:p>
            <a:pPr algn="ctr" rtl="0">
              <a:spcAft>
                <a:spcPts val="10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all four → [ROOT_ق#ل], the surface letter living in the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88720"/>
            <a:ext cx="5513832" cy="1874519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1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# and the pattern are complementary</a:t>
            </a:r>
          </a:p>
          <a:p>
            <a:pPr algn="l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masked radical's slot digit is ABSENT from the pattern;</a:t>
            </a:r>
          </a:p>
          <a:p>
            <a:pPr algn="l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letter that surfaces sits there as literal template material.</a:t>
            </a:r>
          </a:p>
          <a:p>
            <a:pPr algn="ctr" rtl="0">
              <a:spcAft>
                <a:spcPts val="1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ق#ل + 1ا3َ  → قال        (slot 2 missing, ا literal)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ق#ل + يَ1ُو3 → يقول       (و literal)</a:t>
            </a:r>
          </a:p>
          <a:p>
            <a:pPr algn="ctr" rtl="0">
              <a:spcAft>
                <a:spcPts val="10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100"/>
              </a:spcAft>
            </a:pPr>
            <a:r>
              <a:rPr sz="9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verified on 457 / 457 masked radicals — zero counter-examples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1115568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1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why deletion was destructive — _dict_to_analysis()  araroopat_backend.py:328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11296"/>
            <a:ext cx="5532120" cy="1188720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deleting # ...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ق.#.ل → 'قل'  — 2 letters, below the 3-radical bar → rejected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and it RENUMBERS the survivors: ل moves from index 2 to 1,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so a pattern referring to slot 3 reads out of range</a:t>
            </a:r>
          </a:p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cost: 49.3 % of word occurrences → character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511296"/>
            <a:ext cx="5513832" cy="11887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... so radicals are counted structurally</a:t>
            </a:r>
          </a:p>
          <a:p>
            <a:pPr algn="l" rtl="0">
              <a:spcAft>
                <a:spcPts val="0"/>
              </a:spcAft>
            </a:pPr>
            <a:r>
              <a:rPr sz="86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radicals = [r for r in root.replace('_','.').split('.') if r]</a:t>
            </a:r>
          </a:p>
          <a:p>
            <a:pPr algn="l" rtl="0">
              <a:spcAft>
                <a:spcPts val="0"/>
              </a:spcAft>
            </a:pPr>
            <a:r>
              <a:rPr sz="86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if len(radicals) &lt; 3: return None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WEAK_RADICAL_MARK is whitelisted by _is_arabic_root() and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guarded in naive_pattern_fill() so # never reaches output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64608"/>
            <a:ext cx="11183112" cy="12344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1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# is lossy — know the trade-off</a:t>
            </a:r>
          </a:p>
          <a:p>
            <a:pPr algn="ctr" rtl="0"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[ROOT_س#ر] covers both س-و-ر (سور, a wall) and س-ي-ر (سار, to march). [ROOT_ص#م] covers صوم and صام.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(root, pattern) PAIR stays unambiguous — the pattern carries the realized letter — but the root token alone does not, which softens 'each ROOT is a semantic atom' for weak roots.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Canonicalizing # to a guessed radical was rejected: it merges exactly the same pairs while hiding the ambiguity behind a plausible-looking root.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Path ② — the five gates to the character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 word reaches [LIT_*] when any one of these fires. Four are in _dict_to_analysis(); the fifth is the vocabulary check in _emit_alpha().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84048" cy="841248"/>
          </a:xfrm>
          <a:prstGeom prst="roundRect">
            <a:avLst>
              <a:gd name="adj" fmla="val 3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18872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no usable candidate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188720"/>
            <a:ext cx="4892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CAMeL's backoff analyzer fires:  root='O', pattern='backoff'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0183" y="1188720"/>
            <a:ext cx="33558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100"/>
              </a:spcAft>
            </a:pPr>
            <a:r>
              <a:rPr sz="88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~33 % of word occurrences — no database entry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_first_valid() returns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4832"/>
            <a:ext cx="384048" cy="841248"/>
          </a:xfrm>
          <a:prstGeom prst="roundRect">
            <a:avLst>
              <a:gd name="adj" fmla="val 3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084832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fewer than 3 radicals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084832"/>
            <a:ext cx="4892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في  root='ف.#'  ·  كم  root='ك.م'  ·  أي  root='#.#'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2084832"/>
            <a:ext cx="33558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100"/>
              </a:spcAft>
            </a:pPr>
            <a:r>
              <a:rPr sz="88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genuinely bi-consonantal words and particles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len(radicals) &lt;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384048" cy="841248"/>
          </a:xfrm>
          <a:prstGeom prst="roundRect">
            <a:avLst>
              <a:gd name="adj" fmla="val 3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980944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database marker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2980944"/>
            <a:ext cx="4892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تلفزيون · مريم  root='NTWS'   ·   دورهٔ  root='FOREIGN'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2980944"/>
            <a:ext cx="33558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100"/>
              </a:spcAft>
            </a:pPr>
            <a:r>
              <a:rPr sz="88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loanwords, proper nouns, non-Arabic orthography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root in ('NTWS','FOREIGN')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77056"/>
            <a:ext cx="384048" cy="841248"/>
          </a:xfrm>
          <a:prstGeom prst="roundRect">
            <a:avLst>
              <a:gd name="adj" fmla="val 3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877056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root is not Arabic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3877056"/>
            <a:ext cx="4892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هيكتور  root='Uٌٍ'  — an ASCII fragment from the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3877056"/>
            <a:ext cx="33558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100"/>
              </a:spcAft>
            </a:pPr>
            <a:r>
              <a:rPr sz="88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catch-all so junk never becomes a token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_is_arabic_root()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73168"/>
            <a:ext cx="384048" cy="841248"/>
          </a:xfrm>
          <a:prstGeom prst="roundRect">
            <a:avLst>
              <a:gd name="adj" fmla="val 3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773168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root or pattern out of vocab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4773168"/>
            <a:ext cx="48920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القرآن  root='قر#' ✓ in vocab   pattern='1ُ2ْآنِ' ✗ OOV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3" y="4773168"/>
            <a:ext cx="335584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100"/>
              </a:spcAft>
            </a:pPr>
            <a:r>
              <a:rPr sz="88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all-or-nothing: the in-vocab root is discarded too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in self._vocab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66928"/>
          </a:xfrm>
          <a:prstGeom prst="roundRect">
            <a:avLst>
              <a:gd name="adj" fmla="val 1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_emit_lit()  araroopat.py:620   —   تلفزيون → [LIT_BEGIN] [CHAR_ت][CHAR_ل][CHAR_ف][CHAR_ز][CHAR_ي][CHAR_و][CHAR_ن] [LIT_END]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Paths ③ ④ ⑤ — the word is not treated as atomic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_encode_word() walks the whitespace word and cuts at every change of character class, so one word can emit several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394960" cy="21488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_classify_char()   araroopat.py:99</a:t>
            </a:r>
          </a:p>
          <a:p>
            <a:pPr algn="ctr" rtl="0">
              <a:spcAft>
                <a:spcPts val="10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alpha   35 ARABIC_LETTERS + 12 ARABIC_DIACRITICS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digit   0-9 and ٠-٩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punct   ASCII + ، ؛ ؟ « » … — – ـ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space   already removed by the outer split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other   everything else → &lt;unk&gt;</a:t>
            </a:r>
          </a:p>
          <a:p>
            <a:pPr algn="ctr" rtl="0">
              <a:spcAft>
                <a:spcPts val="10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ك→alpha   2→digit   !→punct   a→other   ى→other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188720"/>
            <a:ext cx="5605272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0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runs, worked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"يذهب"   → [alpha 'يذهب']                     one run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"2024م"  → [digit '2024'] [alpha 'م']          two runs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"عليكم!" → [alpha 'عليكم'] [punct '!']         two runs</a:t>
            </a:r>
          </a:p>
          <a:p>
            <a:pPr algn="l" rtl="0">
              <a:spcAft>
                <a:spcPts val="100"/>
              </a:spcAft>
            </a:pPr>
            <a:r>
              <a:rPr sz="95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"إلى"    → [alpha 'إل'] [other 'ى']            two runs</a:t>
            </a:r>
          </a:p>
          <a:p>
            <a:pPr algn="ctr" rtl="0">
              <a:spcAft>
                <a:spcPts val="1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l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Each run is emitted independently — the analyser only ever sees</a:t>
            </a:r>
          </a:p>
          <a:p>
            <a:pPr algn="l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alpha runs, which is why the same chunking must be used by</a:t>
            </a:r>
          </a:p>
          <a:p>
            <a:pPr algn="l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corpus pre-pass (_extract_alpha_chunks) or the cache misses.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11183112" cy="1234440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known defect — ى (alef maqsura, U+0649) is not in ARABIC_LETTERS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It classifies as 'other', so it both SPLITS the word and becomes &lt;unk&gt;. normalize_arabic() folds the alef variants آ أ إ ٱ → ا but does not map ى → ي, so nothing upstream rescues it.</a:t>
            </a:r>
          </a:p>
          <a:p>
            <a:pPr algn="ctr" rtl="0">
              <a:spcAft>
                <a:spcPts val="200"/>
              </a:spcAft>
            </a:pPr>
            <a:r>
              <a:rPr sz="90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encode("إلى المستشفى")  →  [LIT_BEGIN][CHAR_إ][CHAR_ل][LIT_END] &lt;unk&gt; [LIT_BEGIN][CHAR_ا]…[CHAR_ف][LIT_END] &lt;unk&gt;</a:t>
            </a:r>
          </a:p>
          <a:p>
            <a:pPr algn="ctr" rtl="0">
              <a:spcAft>
                <a:spcPts val="200"/>
              </a:spcAft>
            </a:pPr>
            <a:r>
              <a:rPr sz="9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decode → 'إل ? المستشف ?'    ·    it also truncates the chunk before CAMeL ever sees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56048"/>
            <a:ext cx="553212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③ digits glue back at decode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[DIGIT_2][DIGIT_0][DIGIT_2][DIGIT_4] would decode as four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separate words. decode() glues a digit onto the previous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output when it ends in a digit and no proclitic is buffered.</a:t>
            </a:r>
          </a:p>
          <a:p>
            <a:pPr algn="l" rtl="0">
              <a:spcAft>
                <a:spcPts val="0"/>
              </a:spcAft>
            </a:pPr>
            <a:r>
              <a:rPr sz="9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"في عام 2024" round-trips exactly.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956048"/>
            <a:ext cx="5513832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⑥ unknown clitic surface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_emit_clitic() looks up [CLITICP_x] or [CLITICE_x] by kind.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If that exact token is absent, the clitic is spelled out via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_emit_lit() instead of being dropped — the sixth path, and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reason decode never loses a morpheme it cannot name.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train() — five steps, and what each produces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araroopat.py:170   ·   vocab_size is ignored on purpose: the size falls out of max_roots + max_patterns + fixed slots.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84048" cy="78638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188720"/>
            <a:ext cx="2788920" cy="7863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_corpus_prepass()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araroopat.py:242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1" y="1188720"/>
            <a:ext cx="443484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Analyse every distinct alpha chunk once, in batches of 256, and cache to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0183" y="1188720"/>
            <a:ext cx="335584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1,140,803 chunks → 506,101 analysed (44.4 %)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9968"/>
            <a:ext cx="384048" cy="78638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029968"/>
            <a:ext cx="2788920" cy="7863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frequency tables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1" y="2029968"/>
            <a:ext cx="443484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Counters over accepted entries: root_freq, pat_freq, proclitic_freq, enclitic_freq.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2029968"/>
            <a:ext cx="335584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4,331 roots · 18,970 patterns · 10 proclitics · 13 enclitics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384048" cy="78638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871216"/>
            <a:ext cx="2788920" cy="7863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_build_vocab()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araroopat.py:305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2191" y="2871216"/>
            <a:ext cx="443484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Assemble the flat dict in fixed class order; roots and patterns freq-sorted, freq ≥ 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2871216"/>
            <a:ext cx="335584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8,265 tokens — 4,128 roots + 4,000 patterns + 137 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12464"/>
            <a:ext cx="384048" cy="78638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712464"/>
            <a:ext cx="2788920" cy="7863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_build_reconstruction()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araroopat.py:375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2191" y="3712464"/>
            <a:ext cx="443484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(root_id, pat_id) → inflected stem = diac minus clitic surfaces. Generator fills unseen pairs.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3712464"/>
            <a:ext cx="335584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108,149 entries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53712"/>
            <a:ext cx="384048" cy="786384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553712"/>
            <a:ext cx="2788920" cy="7863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_build_metadata()</a:t>
            </a:r>
          </a:p>
          <a:p>
            <a:pPr algn="ctr" rtl="0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araroopat.py:432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2191" y="4553712"/>
            <a:ext cx="443484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Provenance: per-root and per-pattern id, freq, source and example words.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3" y="4553712"/>
            <a:ext cx="3355848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vocab_metadata.json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40680"/>
            <a:ext cx="5532120" cy="868680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the cache is keyed on chunking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_extract_alpha_chunks() must match what _encode_word() does at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runtime, or every encode call misses and hits the analyser again.</a:t>
            </a:r>
          </a:p>
          <a:p>
            <a:pPr algn="l" rtl="0">
              <a:spcAft>
                <a:spcPts val="0"/>
              </a:spcAft>
            </a:pPr>
            <a:r>
              <a:rPr sz="9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Change one, change both.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440680"/>
            <a:ext cx="5513832" cy="86868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the budget binds on patterns, not roots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Only 4,128 roots clear min_root_freq, so max_roots (10,000) never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binds. 15,219 patterns qualify and 4,000 are kept — admission goes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26 % → 48 % as that budget rises from 500 to 4,000.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vocabulary — contiguous ranges by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IDs are assigned in a fixed order so a class can be masked with a slice, not a set membership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specials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0–5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6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&lt;pad&gt; &lt;s&gt; &lt;/s&gt; &lt;unk&gt; [LIT_BEGIN] [LIT_END]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207008"/>
            <a:ext cx="12344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proclitics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6–15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10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ال و ب ل ف ك س أ ما لا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9776" y="1207008"/>
            <a:ext cx="12344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enclitics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16–28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13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ه ها هم ي ك نا هما كم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78224" y="1207008"/>
            <a:ext cx="9601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chars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29–75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47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Arabic letters + diacritics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2352" y="1207008"/>
            <a:ext cx="8686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digits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76–95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20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0-9 ٠-٩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07008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punct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96–136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41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! . ، ؟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3448" y="1207008"/>
            <a:ext cx="2926080" cy="96012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 w="2032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ROOTS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137–4264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4,128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freq-sorted, freq ≥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3536" y="1207008"/>
            <a:ext cx="1874519" cy="96012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PATTERNS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4265–8264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4,000</a:t>
            </a:r>
          </a:p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freq-sorted, freq ≥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11173968" cy="402336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emission is all-or-nothing per word: [ROOT_x] and [PAT_y] must BOTH be present, or the word — root included — goes to the character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111556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why two tokens beat one entry — the (root × pattern) 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82112"/>
            <a:ext cx="5532120" cy="23317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[ROOT_ذهب]  ×  58 patterns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[PAT_1َ2َ3]     → ذهب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[PAT_1ا2ِ3]     → ذاهب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[PAT_يَ1ْ2َ3]    → يذهب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[PAT_تَ1ْ2َ3]    → تذهب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[PAT_مَ1ْ2َ3]    → مذهب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[PAT_مَ1ا2ِ3]   → مذاهب</a:t>
            </a:r>
          </a:p>
          <a:p>
            <a:pPr algn="ct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…52 more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182112"/>
            <a:ext cx="5513832" cy="23317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[PAT_يَ1ْ2َ3]  ×  360 roots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[ROOT_جمع] → يجمع        [ROOT_علم] → يعلم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[ROOT_عمل] → يعمل        [ROOT_قطع] → يقطع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[ROOT_دفع] → يدفع        [ROOT_حفظ] → يحفظ</a:t>
            </a:r>
          </a:p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[ROOT_ظهر] → يظهر        [ROOT_شهد] → يشهد</a:t>
            </a:r>
          </a:p>
          <a:p>
            <a:pPr algn="ct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…352 more</a:t>
            </a:r>
          </a:p>
          <a:p>
            <a:pPr algn="ctr" rtl="0">
              <a:spcAft>
                <a:spcPts val="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one shared token doing the grammatical work for every verb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69280"/>
            <a:ext cx="11183112" cy="566928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58 + 360 = 418 surface forms addressable with two tokens instead of 418 separate vocabulary entries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decode() — one left-to-right pass, four pieces of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araroopat.py:648   ·   dispatch is on the token's string PREFIX, which is why proclitics and enclitics have distinct ranges.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761488" cy="62179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out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finalized words, in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5" y="1188720"/>
            <a:ext cx="2761488" cy="62179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clitic_prefix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proclitics buffered for the next 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188720"/>
            <a:ext cx="2761488" cy="62179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pending_root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 ROOT that has not met its PAT yet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408" y="1188720"/>
            <a:ext cx="2761488" cy="62179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lit_buffer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chars between LIT_BEGIN/END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56816"/>
            <a:ext cx="283464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token prefix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956816"/>
            <a:ext cx="5074920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956816"/>
            <a:ext cx="3264408" cy="3474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state 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40864"/>
            <a:ext cx="283464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[CLITICP_*]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40864"/>
            <a:ext cx="507492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buffer it — belongs to the word that follows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340864"/>
            <a:ext cx="3264408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clitic_prefix.append(...)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43200"/>
            <a:ext cx="2834640" cy="402336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[CLITICE_*]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743200"/>
            <a:ext cx="5074920" cy="402336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attach to the word just emitted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743200"/>
            <a:ext cx="3264408" cy="402336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out[-1] += surface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45536"/>
            <a:ext cx="283464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[ROOT_*]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145536"/>
            <a:ext cx="507492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dump any orphan root, then hold this 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145536"/>
            <a:ext cx="3264408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pending_root = 'ذهب'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47872"/>
            <a:ext cx="2834640" cy="402336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[PAT_*]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547872"/>
            <a:ext cx="5074920" cy="402336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_reconstruct(root_id, pat_id) → flush_word()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547872"/>
            <a:ext cx="3264408" cy="402336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out += join_proclitics(...) + 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50208"/>
            <a:ext cx="283464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[LIT_BEGIN] / [CHAR_*] / [LIT_END]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950208"/>
            <a:ext cx="507492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accumulate literal characters, then flush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950208"/>
            <a:ext cx="3264408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lit_buffer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52544"/>
            <a:ext cx="2834640" cy="402336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[DIGIT_*]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352544"/>
            <a:ext cx="5074920" cy="402336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glue onto the previous output if it ends in a digit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352544"/>
            <a:ext cx="3264408" cy="402336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2 0 2 4 → 2024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54880"/>
            <a:ext cx="283464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[PUNCT_*] / &lt;unk&gt;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4754880"/>
            <a:ext cx="5074920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flush as its own word / emit '?'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4754880"/>
            <a:ext cx="3264408" cy="4023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57800"/>
            <a:ext cx="55321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edge cases the machine absorbs</a:t>
            </a:r>
          </a:p>
          <a:p>
            <a:pPr algn="l" rtl="0">
              <a:spcAft>
                <a:spcPts val="0"/>
              </a:spcAft>
            </a:pPr>
            <a:r>
              <a:rPr sz="8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PAT with no pending ROOT → naive_pattern_fill('', pat) returns '' → the word vanishes silently</a:t>
            </a:r>
          </a:p>
          <a:p>
            <a:pPr algn="l" rtl="0">
              <a:spcAft>
                <a:spcPts val="0"/>
              </a:spcAft>
            </a:pPr>
            <a:r>
              <a:rPr sz="8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ROOT with no following PAT → dump_orphan_root() emits the bare root letters</a:t>
            </a:r>
          </a:p>
          <a:p>
            <a:pPr algn="l" rtl="0">
              <a:spcAft>
                <a:spcPts val="0"/>
              </a:spcAft>
            </a:pPr>
            <a:r>
              <a:rPr sz="8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trailing buffered proclitics at EOS → flushed as a standalone word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257800"/>
            <a:ext cx="5513832" cy="1005840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why prc and enc need distinct prefixes</a:t>
            </a:r>
          </a:p>
          <a:p>
            <a:pPr algn="l" rtl="0">
              <a:spcAft>
                <a:spcPts val="0"/>
              </a:spcAft>
            </a:pPr>
            <a:r>
              <a:rPr sz="8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With one [CLITIC_*] range the decoder cannot tell whether a ك attaches</a:t>
            </a:r>
          </a:p>
          <a:p>
            <a:pPr algn="l" rtl="0">
              <a:spcAft>
                <a:spcPts val="0"/>
              </a:spcAft>
            </a:pPr>
            <a:r>
              <a:rPr sz="8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leftward or rightward — ka_prep 'like' vs 2ms_pron 'your' are the same</a:t>
            </a:r>
          </a:p>
          <a:p>
            <a:pPr algn="l" rtl="0">
              <a:spcAft>
                <a:spcPts val="0"/>
              </a:spcAft>
            </a:pPr>
            <a:r>
              <a:rPr sz="8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surface. Distinct ranges make it a token-type decision, not a guess.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_reconstruct() — three tiers, tried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araroopat.py:768   ·   turning (root_id, pat_id) back into an Arabic surface 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051560" cy="1481328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TIER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1188720"/>
            <a:ext cx="10058400" cy="148132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200"/>
              </a:spcAft>
            </a:pPr>
            <a:r>
              <a:rPr sz="11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lookup table      self._reconstruction[(root_id, pat_id)]</a:t>
            </a:r>
          </a:p>
          <a:p>
            <a:pPr algn="l" rtl="0"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108,149 entries built at training time from the corpus, storing the most frequent realization.</a:t>
            </a:r>
          </a:p>
          <a:p>
            <a:pPr algn="l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hits ~99 % of LLM emissions — the model was trained on exactly this distribution</a:t>
            </a:r>
          </a:p>
          <a:p>
            <a:pPr algn="l" rtl="0">
              <a:spcAft>
                <a:spcPts val="200"/>
              </a:spcAft>
            </a:pPr>
            <a:r>
              <a:rPr sz="9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cost: O(1)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35040" y="2679192"/>
            <a:ext cx="146304" cy="7315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761488"/>
            <a:ext cx="1051560" cy="1481328"/>
          </a:xfrm>
          <a:prstGeom prst="roundRect">
            <a:avLst>
              <a:gd name="adj" fmla="val 1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TIER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7632" y="2761488"/>
            <a:ext cx="10058400" cy="1481328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200"/>
              </a:spcAft>
            </a:pPr>
            <a:r>
              <a:rPr sz="11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CAMeL Generator      backend.generate(root, pattern)</a:t>
            </a:r>
          </a:p>
          <a:p>
            <a:pPr algn="l" rtl="0"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Generator takes a lemma + features, which we do not have. So the server naive-fills, re-analyses that rough form, and returns the stem of whichever analysis matches the target (root, bare pattern).</a:t>
            </a:r>
          </a:p>
          <a:p>
            <a:pPr algn="l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exploits the analyser as a lossy inverse of the generator — correct on weak roots</a:t>
            </a:r>
          </a:p>
          <a:p>
            <a:pPr algn="l" rtl="0">
              <a:spcAft>
                <a:spcPts val="200"/>
              </a:spcAft>
            </a:pPr>
            <a:r>
              <a:rPr sz="9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cost: ~1 ms, cached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35040" y="4251960"/>
            <a:ext cx="146304" cy="73152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4334256"/>
            <a:ext cx="1051560" cy="1481328"/>
          </a:xfrm>
          <a:prstGeom prst="roundRect">
            <a:avLst>
              <a:gd name="adj" fmla="val 18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TIER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7632" y="4334256"/>
            <a:ext cx="10058400" cy="148132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200"/>
              </a:spcAft>
            </a:pPr>
            <a:r>
              <a:rPr sz="11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naive substitution      naive_pattern_fill(root, pattern)</a:t>
            </a:r>
          </a:p>
          <a:p>
            <a:pPr algn="l" rtl="0"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Substitute root letters into the pattern's slot digits; everything else is carried verbatim.</a:t>
            </a:r>
          </a:p>
          <a:p>
            <a:pPr algn="l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wrong on weak roots — قَوَلَ instead of قال — so it is the safety net, never the plan</a:t>
            </a:r>
          </a:p>
          <a:p>
            <a:pPr algn="l" rtl="0">
              <a:spcAft>
                <a:spcPts val="200"/>
              </a:spcAft>
            </a:pPr>
            <a:r>
              <a:rPr sz="9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cost: O(L)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43600"/>
            <a:ext cx="11183112" cy="56692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reconstruction[(536, 4284)] = 'يذهب'      ·      reconstruction[(176, 4436)] = 'قال'      ·      reconstruction[(197, 4377)] = 'ولد'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Function map — where to look when reading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Line numbers are resolved when this deck is generated, so regenerating re-syncs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2761488" cy="310896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ENCODE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01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0F766E"/>
                </a:solidFill>
                <a:latin typeface="Consolas"/>
                <a:cs typeface="Consolas"/>
                <a:ea typeface="Consolas"/>
              </a:rPr>
              <a:t>encode()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araroopat.py:508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BOS/EOS, NFKC, whitespace split, padding &amp; truncation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22576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01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0F766E"/>
                </a:solidFill>
                <a:latin typeface="Consolas"/>
                <a:cs typeface="Consolas"/>
                <a:ea typeface="Consolas"/>
              </a:rPr>
              <a:t>_encode_word()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araroopat.py:548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cut into runs by character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01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0F766E"/>
                </a:solidFill>
                <a:latin typeface="Consolas"/>
                <a:cs typeface="Consolas"/>
                <a:ea typeface="Consolas"/>
              </a:rPr>
              <a:t>_classify_char()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araroopat.py:99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alpha / digit / punct / space / other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95344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01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0F766E"/>
                </a:solidFill>
                <a:latin typeface="Consolas"/>
                <a:cs typeface="Consolas"/>
                <a:ea typeface="Consolas"/>
              </a:rPr>
              <a:t>_emit_alpha()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araroopat.py:577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analyse → vocab check → ROOT+PAT, else 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681728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01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0F766E"/>
                </a:solidFill>
                <a:latin typeface="Consolas"/>
                <a:cs typeface="Consolas"/>
                <a:ea typeface="Consolas"/>
              </a:rPr>
              <a:t>_emit_clitic()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araroopat.py:608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kind 'p'/'e' selects the prefix range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68112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01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0F766E"/>
                </a:solidFill>
                <a:latin typeface="Consolas"/>
                <a:cs typeface="Consolas"/>
                <a:ea typeface="Consolas"/>
              </a:rPr>
              <a:t>_emit_lit()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araroopat.py:620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character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5" y="1170432"/>
            <a:ext cx="2761488" cy="310896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ANALYSE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5" y="1536192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MorphAnalyzer.analyze()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araroopat_backend.py:425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LRU-cached; analyze_many() batches 256 per round-trip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5" y="2322576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_first_valid()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araroopat_backend.py:474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walk candidates in MLE order, return the first accepted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3108960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_dict_to_analysis()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araroopat_backend.py:328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four gates + normalization →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8415" y="3895344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normalize_pattern()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araroopat_backend.py:304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strip clitic surfaces → bare-stem template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4681728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strip_proclitics_from_start()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araroopat_backend.py:286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outer-to-inner, handles لِ+الـ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8415" y="5468112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clitic_surface()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araroopat_backend.py:182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CAMeL feature tag → Arabic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1170432"/>
            <a:ext cx="2761488" cy="310896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1536192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016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train()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araroopat.py:170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five steps; vocab_size is ignored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2322576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016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_corpus_prepass()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araroopat.py:242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batched analysis + on-disk cache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108960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016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_build_vocab()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araroopat.py:305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deterministic ID order by 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895344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016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_build_reconstruction()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araroopat.py:375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(root_id, pat_id) → inflected 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4681728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016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4338CA"/>
                </a:solidFill>
                <a:latin typeface="Consolas"/>
                <a:cs typeface="Consolas"/>
                <a:ea typeface="Consolas"/>
              </a:rPr>
              <a:t>_strip_clitic_surfaces()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araroopat.py:917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diac minus clitics = inflected 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9408" y="1170432"/>
            <a:ext cx="2761488" cy="310896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DECODE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1536192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016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decode()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araroopat.py:648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state machine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322576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016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_reconstruct()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araroopat.py:768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lookup → generator → naive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408" y="3108960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016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join_proclitics()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araroopat.py:903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inverse of strip_proclitics_from_start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3895344"/>
            <a:ext cx="2761488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016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19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naive_pattern_fill()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araroopat_backend.py:505</a:t>
            </a:r>
          </a:p>
          <a:p>
            <a:pPr algn="l" rtl="0">
              <a:spcAft>
                <a:spcPts val="0"/>
              </a:spcAft>
            </a:pPr>
            <a:r>
              <a:rPr sz="8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tier 3; guards against emitting 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bridge (araroopat_bridge.py) and the server (tools/araroopat_camel_server.py) sit between ANALYSE and CAMeL — NDJSON over stdin/stdout, one outstanding request, fail-loud on EOF or timeout.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