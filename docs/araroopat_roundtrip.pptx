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4" r:id="rId15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AraRooPat — the full round trip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4600" b="1">
                <a:solidFill>
                  <a:srgbClr val="2DD4BF"/>
                </a:solidFill>
                <a:latin typeface="Arial"/>
                <a:cs typeface="Arial"/>
                <a:ea typeface="Arial"/>
              </a:rPr>
              <a:t>يذهب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10058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600" b="0">
                <a:solidFill>
                  <a:srgbClr val="94A3B8"/>
                </a:solidFill>
                <a:latin typeface="Arial"/>
                <a:cs typeface="Arial"/>
                <a:ea typeface="Arial"/>
              </a:rPr>
              <a:t>one Arabic word → 2 morphological tokens → LLaMA-3.2-1B → back to Arabic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69080"/>
            <a:ext cx="1188720" cy="566928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1E293B"/>
                </a:solidFill>
                <a:latin typeface="Arial"/>
                <a:cs typeface="Arial"/>
                <a:ea typeface="Arial"/>
              </a:rPr>
              <a:t>يذهب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39112" y="4261104"/>
            <a:ext cx="164592" cy="18288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31136" y="4069080"/>
            <a:ext cx="1737360" cy="566928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1E293B"/>
                </a:solidFill>
                <a:latin typeface="Arial"/>
                <a:cs typeface="Arial"/>
                <a:ea typeface="Arial"/>
              </a:rPr>
              <a:t>CAMeL analyze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95928" y="4261104"/>
            <a:ext cx="164592" cy="18288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87952" y="4069080"/>
            <a:ext cx="2651760" cy="566928"/>
          </a:xfrm>
          <a:prstGeom prst="roundRect">
            <a:avLst>
              <a:gd name="adj" fmla="val 25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1E293B"/>
                </a:solidFill>
                <a:latin typeface="Arial"/>
                <a:cs typeface="Arial"/>
                <a:ea typeface="Arial"/>
              </a:rPr>
              <a:t>[ROOT_ذهب] [PAT_يَ1ْ2َ3]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867144" y="4261104"/>
            <a:ext cx="164592" cy="18288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59168" y="4069080"/>
            <a:ext cx="1920240" cy="566928"/>
          </a:xfrm>
          <a:prstGeom prst="roundRect">
            <a:avLst>
              <a:gd name="adj" fmla="val 25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1E293B"/>
                </a:solidFill>
                <a:latin typeface="Arial"/>
                <a:cs typeface="Arial"/>
                <a:ea typeface="Arial"/>
              </a:rPr>
              <a:t>[1, 354, 3298, 2]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006840" y="4261104"/>
            <a:ext cx="164592" cy="18288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98864" y="4069080"/>
            <a:ext cx="1554480" cy="566928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1E293B"/>
                </a:solidFill>
                <a:latin typeface="Arial"/>
                <a:cs typeface="Arial"/>
                <a:ea typeface="Arial"/>
              </a:rPr>
              <a:t>LLaMA-3.2-1B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780776" y="4261104"/>
            <a:ext cx="164592" cy="18288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0" y="4069080"/>
            <a:ext cx="1188720" cy="566928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1E293B"/>
                </a:solidFill>
                <a:latin typeface="Arial"/>
                <a:cs typeface="Arial"/>
                <a:ea typeface="Arial"/>
              </a:rPr>
              <a:t>يذهب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105156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Measured end-to-end on: tokenizer outputs/tokenizers/araroopat_balanced (vocab 3,784)  ·  model outputs/experiments/araroopat_3phase_with_sft/training/sft  ·  live CAMeL bridge</a:t>
            </a:r>
          </a:p>
          <a:p>
            <a:pPr algn="l" rtl="0"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Companion to docs/araroopat_end_to_end.md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The full round trip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115568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input → tokenizer → ids → model → decode → output. Shapes carry real values.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274320" cy="1252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743200" cy="2377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rial"/>
                <a:cs typeface="Arial"/>
                <a:ea typeface="Arial"/>
              </a:rPr>
              <a:t>TOKENIZER  ·  pure Python + CAMeL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81328"/>
            <a:ext cx="1417320" cy="749808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يذهب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1481328"/>
            <a:ext cx="160020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NFKC normalize</a:t>
            </a:r>
          </a:p>
          <a:p>
            <a:pPr algn="ctr" rtl="0">
              <a:spcAft>
                <a:spcPts val="0"/>
              </a:spcAft>
            </a:pPr>
            <a:r>
              <a:rPr sz="950" b="1">
                <a:solidFill>
                  <a:srgbClr val="64748B"/>
                </a:solidFill>
                <a:latin typeface="Arial"/>
                <a:cs typeface="Arial"/>
                <a:ea typeface="Arial"/>
              </a:rPr>
              <a:t>+ whitespace split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81328"/>
            <a:ext cx="1874519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character-class runs</a:t>
            </a:r>
          </a:p>
          <a:p>
            <a:pPr algn="ctr" rtl="0">
              <a:spcAft>
                <a:spcPts val="0"/>
              </a:spcAft>
            </a:pPr>
            <a:r>
              <a:rPr sz="950" b="1">
                <a:solidFill>
                  <a:srgbClr val="64748B"/>
                </a:solidFill>
                <a:latin typeface="Arial"/>
                <a:cs typeface="Arial"/>
                <a:ea typeface="Arial"/>
              </a:rPr>
              <a:t>[alpha: يذهب]  1 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481328"/>
            <a:ext cx="2103120" cy="749808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CAMeL analyze  (subprocess)</a:t>
            </a:r>
          </a:p>
          <a:p>
            <a:pPr algn="ctr" rtl="0"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Arial"/>
                <a:cs typeface="Arial"/>
                <a:ea typeface="Arial"/>
              </a:rPr>
              <a:t>root 'ذ.ه.ب'  ·  pattern 'يَ1ْ2َ3'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1481328"/>
            <a:ext cx="274320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2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post-process → Analysis</a:t>
            </a:r>
          </a:p>
          <a:p>
            <a:pPr algn="ctr" rtl="0">
              <a:spcAft>
                <a:spcPts val="0"/>
              </a:spcAft>
            </a:pPr>
            <a:r>
              <a:rPr sz="950" b="1">
                <a:solidFill>
                  <a:srgbClr val="64748B"/>
                </a:solidFill>
                <a:latin typeface="Arial"/>
                <a:cs typeface="Arial"/>
                <a:ea typeface="Arial"/>
              </a:rPr>
              <a:t>root='ذهب'  pattern='يَ1ْ2َ3'  clitics=()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377440" y="1755648"/>
            <a:ext cx="146304" cy="201168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4251960" y="1755648"/>
            <a:ext cx="146304" cy="201168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6400800" y="1755648"/>
            <a:ext cx="146304" cy="201168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778240" y="1755648"/>
            <a:ext cx="146304" cy="201168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670048"/>
            <a:ext cx="274320" cy="1024127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688336"/>
            <a:ext cx="3657600" cy="2377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0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VOCABULARY LOOKUP  ·  3,784 entries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962656"/>
            <a:ext cx="2788920" cy="749808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25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[ROOT_ذهب]  →  id 354</a:t>
            </a:r>
          </a:p>
          <a:p>
            <a:pPr algn="ctr" rtl="0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rial"/>
                <a:cs typeface="Arial"/>
                <a:ea typeface="Arial"/>
              </a:rPr>
              <a:t>root token, ids 138–3283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2962656"/>
            <a:ext cx="3017520" cy="749808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25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[PAT_يَ1ْ2َ3]  →  id 3298</a:t>
            </a:r>
          </a:p>
          <a:p>
            <a:pPr algn="ctr" rtl="0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rial"/>
                <a:cs typeface="Arial"/>
                <a:ea typeface="Arial"/>
              </a:rPr>
              <a:t>pattern token, ids 3284–3783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2962656"/>
            <a:ext cx="4389120" cy="749808"/>
          </a:xfrm>
          <a:prstGeom prst="roundRect">
            <a:avLst>
              <a:gd name="adj" fmla="val 1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input_ids = [ 1, 354, 3298, 2 ]</a:t>
            </a:r>
          </a:p>
          <a:p>
            <a:pPr algn="ctr" rtl="0">
              <a:spcAft>
                <a:spcPts val="0"/>
              </a:spcAft>
            </a:pPr>
            <a:r>
              <a:rPr sz="900" b="0">
                <a:solidFill>
                  <a:srgbClr val="C7D2FE"/>
                </a:solidFill>
                <a:latin typeface="Consolas"/>
                <a:cs typeface="Consolas"/>
                <a:ea typeface="Consolas"/>
              </a:rPr>
              <a:t>&lt;s&gt;  ·  ROOT  ·  PAT  ·  &lt;/s&gt;            attention_mask = [1,1,1,1]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749039" y="3236976"/>
            <a:ext cx="146304" cy="201168"/>
          </a:xfrm>
          <a:prstGeom prst="rightArrow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7059168" y="3236976"/>
            <a:ext cx="146304" cy="201168"/>
          </a:xfrm>
          <a:prstGeom prst="rightArrow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10104120" y="2286000"/>
            <a:ext cx="219456" cy="548640"/>
          </a:xfrm>
          <a:prstGeom prst="downArrow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913632"/>
            <a:ext cx="274320" cy="1024127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931920"/>
            <a:ext cx="4572000" cy="2377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00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MODEL  ·  LLaMA-3.2-1B, unmodified apart from vocab size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206240"/>
            <a:ext cx="2103120" cy="749808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embed_tokens</a:t>
            </a:r>
          </a:p>
          <a:p>
            <a:pPr algn="ctr" rtl="0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rial"/>
                <a:cs typeface="Arial"/>
                <a:ea typeface="Arial"/>
              </a:rPr>
              <a:t>(3784 × 2048) gather → [B,4,2048]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4206240"/>
            <a:ext cx="2331720" cy="749808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16 decoder layers</a:t>
            </a:r>
          </a:p>
          <a:p>
            <a:pPr algn="ctr" rtl="0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rial"/>
                <a:cs typeface="Arial"/>
                <a:ea typeface="Arial"/>
              </a:rPr>
              <a:t>RoPE · GQA 32/8 · SwiGLU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4206240"/>
            <a:ext cx="2240280" cy="749808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lm_head  (tied)</a:t>
            </a:r>
          </a:p>
          <a:p>
            <a:pPr algn="ctr" rtl="0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rial"/>
                <a:cs typeface="Arial"/>
                <a:ea typeface="Arial"/>
              </a:rPr>
              <a:t>2048 → 3,784 logits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4206240"/>
            <a:ext cx="3246120" cy="749808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20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cross-entropy / log-softmax</a:t>
            </a:r>
          </a:p>
          <a:p>
            <a:pPr algn="ctr" rtl="0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rial"/>
                <a:cs typeface="Arial"/>
                <a:ea typeface="Arial"/>
              </a:rPr>
              <a:t>training loss  ·  eval log-likelihood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108960" y="4480560"/>
            <a:ext cx="146304" cy="201168"/>
          </a:xfrm>
          <a:prstGeom prst="right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5715000" y="4480560"/>
            <a:ext cx="146304" cy="201168"/>
          </a:xfrm>
          <a:prstGeom prst="right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8229600" y="4480560"/>
            <a:ext cx="146304" cy="201168"/>
          </a:xfrm>
          <a:prstGeom prst="right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own Arrow 32"/>
          <p:cNvSpPr/>
          <p:nvPr/>
        </p:nvSpPr>
        <p:spPr>
          <a:xfrm>
            <a:off x="10104120" y="3767328"/>
            <a:ext cx="219456" cy="384048"/>
          </a:xfrm>
          <a:prstGeom prst="down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230368"/>
            <a:ext cx="274320" cy="100584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248656"/>
            <a:ext cx="4572000" cy="2377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00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DECODE  ·  state machine + 3-tier reconstruction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504688"/>
            <a:ext cx="2514600" cy="713232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354 → pending_root = 'ذهب'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03320" y="5504688"/>
            <a:ext cx="4160520" cy="713232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3298 → reconstruction[(354, 3298)] = 'يذهب'</a:t>
            </a:r>
          </a:p>
          <a:p>
            <a:pPr algn="ctr" rtl="0"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rial"/>
                <a:cs typeface="Arial"/>
                <a:ea typeface="Arial"/>
              </a:rPr>
              <a:t>tier 1: O(1) lookup — 60,248 entries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5504688"/>
            <a:ext cx="1920240" cy="713232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يذهب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95560" y="5504688"/>
            <a:ext cx="14630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exact</a:t>
            </a:r>
          </a:p>
          <a:p>
            <a:pPr algn="ctr" rtl="0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round trip ✓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493008" y="5760720"/>
            <a:ext cx="146304" cy="201168"/>
          </a:xfrm>
          <a:prstGeom prst="rightArrow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7936992" y="5760720"/>
            <a:ext cx="146304" cy="201168"/>
          </a:xfrm>
          <a:prstGeom prst="rightArrow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own Arrow 41"/>
          <p:cNvSpPr/>
          <p:nvPr/>
        </p:nvSpPr>
        <p:spPr>
          <a:xfrm>
            <a:off x="10104120" y="5029200"/>
            <a:ext cx="219456" cy="411480"/>
          </a:xfrm>
          <a:prstGeom prst="downArrow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6382512"/>
            <a:ext cx="1115568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4 tokens for a 4-character word  ·  the model never sees the surface string, only the (root, pattern) pair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Inside the tokenizer — analysis crosses a process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115568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camel-tools pins numpy&lt;2 / transformers&lt;4.54, so it runs in .venv-camel and is reached over NDJSON pipes.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057400" cy="9601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يذهب</a:t>
            </a:r>
          </a:p>
          <a:p>
            <a:pPr algn="ctr" rtl="0">
              <a:spcAft>
                <a:spcPts val="0"/>
              </a:spcAft>
            </a:pPr>
            <a:r>
              <a:rPr sz="900" b="0">
                <a:solidFill>
                  <a:srgbClr val="CBD5E1"/>
                </a:solidFill>
                <a:latin typeface="Arial"/>
                <a:cs typeface="Arial"/>
                <a:ea typeface="Arial"/>
              </a:rPr>
              <a:t>whitespace word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70048" y="1700784"/>
            <a:ext cx="201168" cy="219456"/>
          </a:xfrm>
          <a:prstGeom prst="right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99232" y="1188720"/>
            <a:ext cx="3977639" cy="123444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Arial"/>
                <a:cs typeface="Arial"/>
                <a:ea typeface="Arial"/>
              </a:rPr>
              <a:t>main .venv</a:t>
            </a:r>
          </a:p>
          <a:p>
            <a:pPr algn="ctr" rtl="0"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MorphAnalyzer.analyze("يذهب")</a:t>
            </a:r>
          </a:p>
          <a:p>
            <a:pPr algn="ctr" rtl="0"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→ CamelBridge.analyze(["يذهب"])   LRU-cached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188720"/>
            <a:ext cx="4041648" cy="12344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200"/>
              </a:spcAft>
            </a:pPr>
            <a:r>
              <a:rPr sz="1000" b="1">
                <a:solidFill>
                  <a:srgbClr val="B45309"/>
                </a:solidFill>
                <a:latin typeface="Arial"/>
                <a:cs typeface="Arial"/>
                <a:ea typeface="Arial"/>
              </a:rPr>
              <a:t>.venv-camel  (subprocess)</a:t>
            </a:r>
          </a:p>
          <a:p>
            <a:pPr algn="ctr" rtl="0"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MLEDisambiguator.disambiguate([…])</a:t>
            </a:r>
          </a:p>
          <a:p>
            <a:pPr algn="ctr" rtl="0"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→ dr.analyses → _trim() to 11 fields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32320" y="1389888"/>
            <a:ext cx="411480" cy="182880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1554480"/>
            <a:ext cx="621792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Arial"/>
                <a:cs typeface="Arial"/>
                <a:ea typeface="Arial"/>
              </a:rPr>
              <a:t>stdin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7132320" y="1993392"/>
            <a:ext cx="411480" cy="182880"/>
          </a:xfrm>
          <a:prstGeom prst="lef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2157984"/>
            <a:ext cx="621792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Arial"/>
                <a:cs typeface="Arial"/>
                <a:ea typeface="Arial"/>
              </a:rPr>
              <a:t>stdout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06040"/>
            <a:ext cx="11173968" cy="8686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Consolas"/>
                <a:cs typeface="Consolas"/>
                <a:ea typeface="Consolas"/>
              </a:rPr>
              <a:t>{"root": "ذ.ه.ب",  "pattern": "يَ1ْ2َ3",  "stem": "ذْهَب",  "diac": "يَذْهَب",  "lex": "ذَهَب",  "pos": "verb",</a:t>
            </a:r>
          </a:p>
          <a:p>
            <a:pPr algn="l" rtl="0">
              <a:spcAft>
                <a:spcPts val="0"/>
              </a:spcAft>
            </a:pPr>
            <a:r>
              <a:rPr sz="1150" b="0">
                <a:solidFill>
                  <a:srgbClr val="E2E8F0"/>
                </a:solidFill>
                <a:latin typeface="Consolas"/>
                <a:cs typeface="Consolas"/>
                <a:ea typeface="Consolas"/>
              </a:rPr>
              <a:t>  "prc3": "0", "prc2": "0", "prc1": "0", "prc0": "0", "enc0": "0"}          ← the raw candidate, verbatim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1188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Arial"/>
                <a:cs typeface="Arial"/>
                <a:ea typeface="Arial"/>
              </a:rPr>
              <a:t>_dict_to_analysis()  —  five transformations, two of them rejections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77639"/>
            <a:ext cx="384048" cy="420624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977639"/>
            <a:ext cx="4160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strip root separators  _  .  #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93792" y="3977639"/>
            <a:ext cx="2788920" cy="420624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'ذ.ه.ب'  →  'ذهب'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480559"/>
            <a:ext cx="384048" cy="420624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480559"/>
            <a:ext cx="4160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reject if root &lt; 3 letters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93792" y="4480559"/>
            <a:ext cx="2788920" cy="420624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3 letters → pass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983479"/>
            <a:ext cx="384048" cy="420624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4983479"/>
            <a:ext cx="4160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reject NTWS (loanword marker)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93792" y="4983479"/>
            <a:ext cx="2788920" cy="420624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not a loanword → pass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86399"/>
            <a:ext cx="384048" cy="420624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5486399"/>
            <a:ext cx="4160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clitic feature tags → Arabic surface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93792" y="5486399"/>
            <a:ext cx="2788920" cy="420624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all "0"  →  None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989319"/>
            <a:ext cx="384048" cy="420624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5989319"/>
            <a:ext cx="4160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normalize_pattern() strips clitic chars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93792" y="5989319"/>
            <a:ext cx="2788920" cy="420624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no clitics → unchanged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977639"/>
            <a:ext cx="3447288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300"/>
              </a:spcAft>
            </a:pPr>
            <a:r>
              <a:rPr sz="1150" b="1">
                <a:solidFill>
                  <a:srgbClr val="0F766E"/>
                </a:solidFill>
                <a:latin typeface="Arial"/>
                <a:cs typeface="Arial"/>
                <a:ea typeface="Arial"/>
              </a:rPr>
              <a:t>Analysis  (frozen dataclass)</a:t>
            </a:r>
          </a:p>
          <a:p>
            <a:pPr algn="l" rtl="0"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root      = 'ذهب'</a:t>
            </a:r>
          </a:p>
          <a:p>
            <a:pPr algn="l" rtl="0"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pattern   = 'يَ1ْ2َ3'   ← bare stem</a:t>
            </a:r>
          </a:p>
          <a:p>
            <a:pPr algn="l" rtl="0">
              <a:spcAft>
                <a:spcPts val="300"/>
              </a:spcAft>
            </a:pPr>
            <a:r>
              <a:rPr sz="1100" b="0">
                <a:solidFill>
                  <a:srgbClr val="BE123C"/>
                </a:solidFill>
                <a:latin typeface="Consolas"/>
                <a:cs typeface="Consolas"/>
                <a:ea typeface="Consolas"/>
              </a:rPr>
              <a:t>stem      = 'ذْهَب'    ← NOT used</a:t>
            </a:r>
          </a:p>
          <a:p>
            <a:pPr algn="l" rtl="0">
              <a:spcAft>
                <a:spcPts val="300"/>
              </a:spcAft>
            </a:pPr>
            <a:r>
              <a:rPr sz="1100" b="0">
                <a:solidFill>
                  <a:srgbClr val="15803D"/>
                </a:solidFill>
                <a:latin typeface="Consolas"/>
                <a:cs typeface="Consolas"/>
                <a:ea typeface="Consolas"/>
              </a:rPr>
              <a:t>surface   = 'يَذْهَب'   ← used</a:t>
            </a:r>
          </a:p>
          <a:p>
            <a:pPr algn="l" rtl="0"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prc0-3, enc0 = None</a:t>
            </a:r>
          </a:p>
          <a:p>
            <a:pPr algn="ctr" rtl="0">
              <a:spcAft>
                <a:spcPts val="300"/>
              </a:spcAft>
            </a:pPr>
            <a:r>
              <a:rPr sz="4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l" rtl="0">
              <a:spcAft>
                <a:spcPts val="30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CAMeL's `stem` drops the present-tense ي —
reconstruction uses diac minus clitics instead,
so the conjugation survives.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382512"/>
            <a:ext cx="1115568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Rules 2 and 3 are where 51 % of real-corpus word occurrences are lost — see the diagnostics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Vocabulary lookup — deterministic ID ranges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115568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Emission is all-or-nothing per word: if either token is OOV, the whole word falls back to characters.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88696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950" b="1">
                <a:solidFill>
                  <a:srgbClr val="1E293B"/>
                </a:solidFill>
                <a:latin typeface="Arial"/>
                <a:cs typeface="Arial"/>
                <a:ea typeface="Arial"/>
              </a:rPr>
              <a:t>specials</a:t>
            </a:r>
          </a:p>
          <a:p>
            <a:pPr algn="ctr" rtl="0"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0–3</a:t>
            </a:r>
          </a:p>
          <a:p>
            <a:pPr algn="ctr" rtl="0"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53896" y="1325880"/>
            <a:ext cx="603504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950" b="1">
                <a:solidFill>
                  <a:srgbClr val="1E293B"/>
                </a:solidFill>
                <a:latin typeface="Arial"/>
                <a:cs typeface="Arial"/>
                <a:ea typeface="Arial"/>
              </a:rPr>
              <a:t>LIT</a:t>
            </a:r>
          </a:p>
          <a:p>
            <a:pPr algn="ctr" rtl="0"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4–5</a:t>
            </a:r>
          </a:p>
          <a:p>
            <a:pPr algn="ctr" rtl="0"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21408" y="1325880"/>
            <a:ext cx="10972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950" b="1">
                <a:solidFill>
                  <a:srgbClr val="0F766E"/>
                </a:solidFill>
                <a:latin typeface="Arial"/>
                <a:cs typeface="Arial"/>
                <a:ea typeface="Arial"/>
              </a:rPr>
              <a:t>proclitics</a:t>
            </a:r>
          </a:p>
          <a:p>
            <a:pPr algn="ctr" rtl="0"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6–17</a:t>
            </a:r>
          </a:p>
          <a:p>
            <a:pPr algn="ctr" rtl="0"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1325880"/>
            <a:ext cx="109728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950" b="1">
                <a:solidFill>
                  <a:srgbClr val="0F766E"/>
                </a:solidFill>
                <a:latin typeface="Arial"/>
                <a:cs typeface="Arial"/>
                <a:ea typeface="Arial"/>
              </a:rPr>
              <a:t>enclitics</a:t>
            </a:r>
          </a:p>
          <a:p>
            <a:pPr algn="ctr" rtl="0"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18–29</a:t>
            </a:r>
          </a:p>
          <a:p>
            <a:pPr algn="ctr" rtl="0"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984" y="1325880"/>
            <a:ext cx="88696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950" b="1">
                <a:solidFill>
                  <a:srgbClr val="B45309"/>
                </a:solidFill>
                <a:latin typeface="Arial"/>
                <a:cs typeface="Arial"/>
                <a:ea typeface="Arial"/>
              </a:rPr>
              <a:t>chars</a:t>
            </a:r>
          </a:p>
          <a:p>
            <a:pPr algn="ctr" rtl="0"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30–76</a:t>
            </a:r>
          </a:p>
          <a:p>
            <a:pPr algn="ctr" rtl="0"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325880"/>
            <a:ext cx="79552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950" b="1">
                <a:solidFill>
                  <a:srgbClr val="B45309"/>
                </a:solidFill>
                <a:latin typeface="Arial"/>
                <a:cs typeface="Arial"/>
                <a:ea typeface="Arial"/>
              </a:rPr>
              <a:t>digits</a:t>
            </a:r>
          </a:p>
          <a:p>
            <a:pPr algn="ctr" rtl="0"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77–96</a:t>
            </a:r>
          </a:p>
          <a:p>
            <a:pPr algn="ctr" rtl="0"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325880"/>
            <a:ext cx="841248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950" b="1">
                <a:solidFill>
                  <a:srgbClr val="B45309"/>
                </a:solidFill>
                <a:latin typeface="Arial"/>
                <a:cs typeface="Arial"/>
                <a:ea typeface="Arial"/>
              </a:rPr>
              <a:t>punct</a:t>
            </a:r>
          </a:p>
          <a:p>
            <a:pPr algn="ctr" rtl="0"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97–137</a:t>
            </a:r>
          </a:p>
          <a:p>
            <a:pPr algn="ctr" rtl="0">
              <a:spcAft>
                <a:spcPts val="100"/>
              </a:spcAft>
            </a:pPr>
            <a:r>
              <a:rPr sz="8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41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9752" y="1325880"/>
            <a:ext cx="2697480" cy="868680"/>
          </a:xfrm>
          <a:prstGeom prst="roundRect">
            <a:avLst>
              <a:gd name="adj" fmla="val 10000"/>
            </a:avLst>
          </a:prstGeom>
          <a:solidFill>
            <a:srgbClr val="4338CA"/>
          </a:solidFill>
          <a:ln w="2032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ROOTS</a:t>
            </a:r>
          </a:p>
          <a:p>
            <a:pPr algn="ctr" rtl="0">
              <a:spcAft>
                <a:spcPts val="100"/>
              </a:spcAft>
            </a:pPr>
            <a:r>
              <a:rPr sz="850" b="0">
                <a:solidFill>
                  <a:srgbClr val="E2E8F0"/>
                </a:solidFill>
                <a:latin typeface="Arial"/>
                <a:cs typeface="Arial"/>
                <a:ea typeface="Arial"/>
              </a:rPr>
              <a:t>138–3283</a:t>
            </a:r>
          </a:p>
          <a:p>
            <a:pPr algn="ctr" rtl="0">
              <a:spcAft>
                <a:spcPts val="100"/>
              </a:spcAft>
            </a:pPr>
            <a:r>
              <a:rPr sz="850" b="0">
                <a:solidFill>
                  <a:srgbClr val="E2E8F0"/>
                </a:solidFill>
                <a:latin typeface="Arial"/>
                <a:cs typeface="Arial"/>
                <a:ea typeface="Arial"/>
              </a:rPr>
              <a:t>3,146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325880"/>
            <a:ext cx="1764792" cy="868680"/>
          </a:xfrm>
          <a:prstGeom prst="roundRect">
            <a:avLst>
              <a:gd name="adj" fmla="val 10000"/>
            </a:avLst>
          </a:prstGeom>
          <a:solidFill>
            <a:srgbClr val="6D28D9"/>
          </a:solidFill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PATTERNS</a:t>
            </a:r>
          </a:p>
          <a:p>
            <a:pPr algn="ctr" rtl="0">
              <a:spcAft>
                <a:spcPts val="100"/>
              </a:spcAft>
            </a:pPr>
            <a:r>
              <a:rPr sz="850" b="0">
                <a:solidFill>
                  <a:srgbClr val="E2E8F0"/>
                </a:solidFill>
                <a:latin typeface="Arial"/>
                <a:cs typeface="Arial"/>
                <a:ea typeface="Arial"/>
              </a:rPr>
              <a:t>3284–3783</a:t>
            </a:r>
          </a:p>
          <a:p>
            <a:pPr algn="ctr" rtl="0">
              <a:spcAft>
                <a:spcPts val="100"/>
              </a:spcAft>
            </a:pPr>
            <a:r>
              <a:rPr sz="850" b="0">
                <a:solidFill>
                  <a:srgbClr val="E2E8F0"/>
                </a:solidFill>
                <a:latin typeface="Arial"/>
                <a:cs typeface="Arial"/>
                <a:ea typeface="Arial"/>
              </a:rPr>
              <a:t>500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95728"/>
            <a:ext cx="11173968" cy="384048"/>
          </a:xfrm>
          <a:prstGeom prst="roundRect">
            <a:avLst>
              <a:gd name="adj" fmla="val 15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3,784 tokens total   ·   max_roots: 10000 never reached (only 3,146 roots occur ≥ 2×)   ·   max_patterns: 500 WAS binding — 6,076 qualified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063240"/>
            <a:ext cx="539496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86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300"/>
              </a:spcAft>
            </a:pPr>
            <a:r>
              <a:rPr sz="20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[ROOT_ذهب]</a:t>
            </a:r>
          </a:p>
          <a:p>
            <a:pPr algn="ctr" rtl="0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id 354      freq 346      source: corpus</a:t>
            </a:r>
          </a:p>
          <a:p>
            <a:pPr algn="ctr" rtl="0"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examples: الذهبية · مذهب · تذهب · ذهب · الذهبي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063240"/>
            <a:ext cx="5413248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86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300"/>
              </a:spcAft>
            </a:pPr>
            <a:r>
              <a:rPr sz="200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[PAT_يَ1ْ2َ3]</a:t>
            </a:r>
          </a:p>
          <a:p>
            <a:pPr algn="ctr" rtl="0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id 3298     freq 1899     source: corpus</a:t>
            </a:r>
          </a:p>
          <a:p>
            <a:pPr algn="ctr" rtl="0">
              <a:spcAft>
                <a:spcPts val="300"/>
              </a:spcAft>
            </a:pPr>
            <a:r>
              <a:rPr sz="11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examples: يَرْغَب · يَشْمَل · يَجْمَع · لِيَسْمَح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26280"/>
            <a:ext cx="11173968" cy="1143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Why a pair beats a subword entry</a:t>
            </a:r>
          </a:p>
          <a:p>
            <a:pPr algn="ctr" rtl="0">
              <a:spcAft>
                <a:spcPts val="400"/>
              </a:spcAft>
            </a:pPr>
            <a:r>
              <a:rPr sz="13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root ذهب appears with 58 distinct patterns   ×   pattern يَ1ْ2َ3 appears with 360 distinct roots</a:t>
            </a:r>
          </a:p>
          <a:p>
            <a:pPr algn="ctr" rtl="0"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ذهب · ذاهب · يذهب · تذهب · مذهب · ذهاب · مذاهب · أذهب · ذهبت …          يجمع · يعلم · يعمل · يقطع · يدفع · يحفظ · يظهر 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806440"/>
            <a:ext cx="11173968" cy="475488"/>
          </a:xfrm>
          <a:prstGeom prst="roundRect">
            <a:avLst>
              <a:gd name="adj" fmla="val 14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418 surface forms are addressable with 2 tokens instead of 418 separate vocabulary entries — that is the compression claim.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Into the model — a gather, 16 layers, and a tied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115568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embedding_type = standard, so LLaMA is untouched apart from the size of one matrix.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2331720" cy="685800"/>
          </a:xfrm>
          <a:prstGeom prst="roundRect">
            <a:avLst>
              <a:gd name="adj" fmla="val 1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[1, 354, 3298, 2]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44368" y="1517904"/>
            <a:ext cx="201168" cy="219456"/>
          </a:xfrm>
          <a:prstGeom prst="right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91840" y="1170432"/>
            <a:ext cx="3063240" cy="214884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200"/>
              </a:spcAft>
            </a:pPr>
            <a:r>
              <a:rPr sz="130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embed_tokens</a:t>
            </a:r>
          </a:p>
          <a:p>
            <a:pPr algn="ctr" rtl="0"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nn.Embedding(3784, 2048)</a:t>
            </a:r>
          </a:p>
          <a:p>
            <a:pPr algn="ctr" rtl="0"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7,749,632 parameters · bf16</a:t>
            </a:r>
          </a:p>
          <a:p>
            <a:pPr algn="ctr" rtl="0">
              <a:spcAft>
                <a:spcPts val="200"/>
              </a:spcAft>
            </a:pPr>
            <a:r>
              <a:rPr sz="4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l" rtl="0"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E[354]  ‖v‖ = 1.1228</a:t>
            </a:r>
          </a:p>
          <a:p>
            <a:pPr algn="l" rtl="0">
              <a:spcAft>
                <a:spcPts val="200"/>
              </a:spcAft>
            </a:pPr>
            <a:r>
              <a:rPr sz="105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E[3298] ‖v‖ = 1.1613</a:t>
            </a:r>
          </a:p>
          <a:p>
            <a:pPr algn="ctr" rtl="0">
              <a:spcAft>
                <a:spcPts val="200"/>
              </a:spcAft>
            </a:pPr>
            <a:r>
              <a:rPr sz="4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ctr" rtl="0">
              <a:spcAft>
                <a:spcPts val="200"/>
              </a:spcAft>
            </a:pPr>
            <a:r>
              <a:rPr sz="110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gather 4 rows → [B, 4, 2048]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170432"/>
            <a:ext cx="233172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130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16 decoder layers</a:t>
            </a:r>
          </a:p>
          <a:p>
            <a:pPr algn="ctr" rtl="0">
              <a:spcAft>
                <a:spcPts val="100"/>
              </a:spcAft>
            </a:pPr>
            <a:r>
              <a:rPr sz="4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ctr" rtl="0">
              <a:spcAft>
                <a:spcPts val="100"/>
              </a:spcAft>
            </a:pPr>
            <a:r>
              <a:rPr sz="10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RMSNorm</a:t>
            </a:r>
          </a:p>
          <a:p>
            <a:pPr algn="ctr" rtl="0">
              <a:spcAft>
                <a:spcPts val="100"/>
              </a:spcAft>
            </a:pPr>
            <a:r>
              <a:rPr sz="10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RoPE θ=500000</a:t>
            </a:r>
          </a:p>
          <a:p>
            <a:pPr algn="ctr" rtl="0">
              <a:spcAft>
                <a:spcPts val="100"/>
              </a:spcAft>
            </a:pPr>
            <a:r>
              <a:rPr sz="10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GQA 32 heads / 8 KV</a:t>
            </a:r>
          </a:p>
          <a:p>
            <a:pPr algn="ctr" rtl="0">
              <a:spcAft>
                <a:spcPts val="100"/>
              </a:spcAft>
            </a:pPr>
            <a:r>
              <a:rPr sz="10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SwiGLU 2048→8192</a:t>
            </a:r>
          </a:p>
          <a:p>
            <a:pPr algn="ctr" rtl="0">
              <a:spcAft>
                <a:spcPts val="100"/>
              </a:spcAft>
            </a:pPr>
            <a:r>
              <a:rPr sz="4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ctr" rtl="0">
              <a:spcAft>
                <a:spcPts val="100"/>
              </a:spcAft>
            </a:pPr>
            <a:r>
              <a:rPr sz="110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[B, 4, 2048]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170432"/>
            <a:ext cx="2532888" cy="214884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200"/>
              </a:spcAft>
            </a:pPr>
            <a:r>
              <a:rPr sz="130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lm_head</a:t>
            </a:r>
          </a:p>
          <a:p>
            <a:pPr algn="ctr" rtl="0">
              <a:spcAft>
                <a:spcPts val="200"/>
              </a:spcAft>
            </a:pPr>
            <a:r>
              <a:rPr sz="105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tied to embed_tokens</a:t>
            </a:r>
          </a:p>
          <a:p>
            <a:pPr algn="ctr" rtl="0">
              <a:spcAft>
                <a:spcPts val="200"/>
              </a:spcAft>
            </a:pPr>
            <a:r>
              <a:rPr sz="4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ctr" rtl="0"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2048 → 3,784</a:t>
            </a:r>
          </a:p>
          <a:p>
            <a:pPr algn="ctr" rtl="0">
              <a:spcAft>
                <a:spcPts val="200"/>
              </a:spcAft>
            </a:pPr>
            <a:r>
              <a:rPr sz="110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logits [B, 4, 3784]</a:t>
            </a:r>
          </a:p>
          <a:p>
            <a:pPr algn="ctr" rtl="0">
              <a:spcAft>
                <a:spcPts val="200"/>
              </a:spcAft>
            </a:pPr>
            <a:r>
              <a:rPr sz="4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ctr" rtl="0"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absent from named_parameters()
— training embed_tokens IS
training lm_head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400800" y="2130552"/>
            <a:ext cx="146304" cy="201168"/>
          </a:xfrm>
          <a:prstGeom prst="right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8961120" y="2130552"/>
            <a:ext cx="146304" cy="201168"/>
          </a:xfrm>
          <a:prstGeom prst="right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520440"/>
            <a:ext cx="5577840" cy="1600200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5875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200"/>
              </a:spcAft>
            </a:pPr>
            <a:r>
              <a:rPr sz="125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What row 354 was before Phase 1</a:t>
            </a:r>
          </a:p>
          <a:p>
            <a:pPr algn="ctr" rtl="0"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resize 128,256 → 3,784 is a SHRINK: HuggingFace keeps the first 3,784 pretrained rows, so nothing is reinitialised.</a:t>
            </a:r>
          </a:p>
          <a:p>
            <a:pPr algn="ctr" rtl="0">
              <a:spcAft>
                <a:spcPts val="200"/>
              </a:spcAft>
            </a:pPr>
            <a:r>
              <a:rPr sz="3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ctr" rtl="0">
              <a:spcAft>
                <a:spcPts val="200"/>
              </a:spcAft>
            </a:pPr>
            <a:r>
              <a:rPr sz="120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[ROOT_ذهب]   inherits LLaMA's  'ot'</a:t>
            </a:r>
          </a:p>
          <a:p>
            <a:pPr algn="ctr" rtl="0">
              <a:spcAft>
                <a:spcPts val="200"/>
              </a:spcAft>
            </a:pPr>
            <a:r>
              <a:rPr sz="120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[PAT_يَ1ْ2َ3]  inherits LLaMA's  ' Act'</a:t>
            </a:r>
          </a:p>
          <a:p>
            <a:pPr algn="ctr" rtl="0">
              <a:spcAft>
                <a:spcPts val="200"/>
              </a:spcAft>
            </a:pPr>
            <a:r>
              <a:rPr sz="120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[CHAR_ا]      inherits LLaMA's  'E'</a:t>
            </a:r>
          </a:p>
          <a:p>
            <a:pPr algn="ctr" rtl="0">
              <a:spcAft>
                <a:spcPts val="200"/>
              </a:spcAft>
            </a:pPr>
            <a:r>
              <a:rPr sz="100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An index collision, not an alignment. Phase 1 exists to drift these rows.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520440"/>
            <a:ext cx="5321808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200"/>
              </a:spcAft>
            </a:pPr>
            <a:r>
              <a:rPr sz="120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Real top-4 after «…الإجابة:»  (Phase-3 checkpoint)</a:t>
            </a:r>
          </a:p>
          <a:p>
            <a:pPr algn="l" rtl="0">
              <a:spcAft>
                <a:spcPts val="200"/>
              </a:spcAft>
            </a:pPr>
            <a:r>
              <a:rPr sz="115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[PAT_1َ2َ3َ]     p = 0.7225      id 3320</a:t>
            </a:r>
          </a:p>
          <a:p>
            <a:pPr algn="l" rtl="0">
              <a:spcAft>
                <a:spcPts val="200"/>
              </a:spcAft>
            </a:pPr>
            <a:r>
              <a:rPr sz="115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[PAT_يَ1ْ2ُ3]    p = 0.2070      id 3299</a:t>
            </a:r>
          </a:p>
          <a:p>
            <a:pPr algn="l" rtl="0">
              <a:spcAft>
                <a:spcPts val="200"/>
              </a:spcAft>
            </a:pPr>
            <a:r>
              <a:rPr sz="115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[PAT_مَ1ْ2َ3]    p = 0.0080      id 3306</a:t>
            </a:r>
          </a:p>
          <a:p>
            <a:pPr algn="l" rtl="0">
              <a:spcAft>
                <a:spcPts val="200"/>
              </a:spcAft>
            </a:pPr>
            <a:r>
              <a:rPr sz="115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[ROOT_نشط]      p = 0.0075      id  330</a:t>
            </a:r>
          </a:p>
          <a:p>
            <a:pPr algn="ctr" rtl="0">
              <a:spcAft>
                <a:spcPts val="200"/>
              </a:spcAft>
            </a:pPr>
            <a:r>
              <a:rPr sz="100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94 % of the top-8 mass sits on PAT tokens — the model learned the class grammar of the vocabulary.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349240"/>
            <a:ext cx="3675887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200"/>
              </a:spcAft>
            </a:pPr>
            <a:r>
              <a:rPr sz="1150" b="1">
                <a:solidFill>
                  <a:srgbClr val="0F766E"/>
                </a:solidFill>
                <a:latin typeface="Arial"/>
                <a:cs typeface="Arial"/>
                <a:ea typeface="Arial"/>
              </a:rPr>
              <a:t>Phase 1 · embedding alignment</a:t>
            </a:r>
          </a:p>
          <a:p>
            <a:pPr algn="ctr" rtl="0"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embed_tokens only, body frozen · Arabic-SQuAD · 1000 steps · loss 1.5933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42816" y="5349240"/>
            <a:ext cx="3675887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200"/>
              </a:spcAft>
            </a:pPr>
            <a:r>
              <a:rPr sz="1150" b="1">
                <a:solidFill>
                  <a:srgbClr val="B45309"/>
                </a:solidFill>
                <a:latin typeface="Arial"/>
                <a:cs typeface="Arial"/>
                <a:ea typeface="Arial"/>
              </a:rPr>
              <a:t>Phase 2 · warmup</a:t>
            </a:r>
          </a:p>
          <a:p>
            <a:pPr algn="ctr" rtl="0"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all params · Arabic-SQuAD · answer-only · 2000 steps · loss 1.6159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82712" y="5349240"/>
            <a:ext cx="3675887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200"/>
              </a:spcAft>
            </a:pPr>
            <a:r>
              <a:rPr sz="11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Phase 3 · SFT</a:t>
            </a:r>
          </a:p>
          <a:p>
            <a:pPr algn="ctr" rtl="0"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all params · TyDiQA-ar + ARCD · 2000 steps · loss 0.2708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Decode — one left-to-right pass over four pieces of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115568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Dispatch is on the token's string prefix, which is why proclitics and enclitics have distinct prefixes.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2761488" cy="658368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1200" b="1">
                <a:solidFill>
                  <a:srgbClr val="15803D"/>
                </a:solidFill>
                <a:latin typeface="Consolas"/>
                <a:cs typeface="Consolas"/>
                <a:ea typeface="Consolas"/>
              </a:rPr>
              <a:t>out</a:t>
            </a:r>
          </a:p>
          <a:p>
            <a:pPr algn="ctr" rtl="0"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finalized words, in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8415" y="1280160"/>
            <a:ext cx="2761488" cy="658368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1200" b="1">
                <a:solidFill>
                  <a:srgbClr val="15803D"/>
                </a:solidFill>
                <a:latin typeface="Consolas"/>
                <a:cs typeface="Consolas"/>
                <a:ea typeface="Consolas"/>
              </a:rPr>
              <a:t>clitic_prefix</a:t>
            </a:r>
          </a:p>
          <a:p>
            <a:pPr algn="ctr" rtl="0"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proclitics waiting for the next content word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1280160"/>
            <a:ext cx="2761488" cy="658368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1200" b="1">
                <a:solidFill>
                  <a:srgbClr val="15803D"/>
                </a:solidFill>
                <a:latin typeface="Consolas"/>
                <a:cs typeface="Consolas"/>
                <a:ea typeface="Consolas"/>
              </a:rPr>
              <a:t>pending_root</a:t>
            </a:r>
          </a:p>
          <a:p>
            <a:pPr algn="ctr" rtl="0"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a ROOT that has not yet met its PAT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79408" y="1280160"/>
            <a:ext cx="2761488" cy="658368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1200" b="1">
                <a:solidFill>
                  <a:srgbClr val="15803D"/>
                </a:solidFill>
                <a:latin typeface="Consolas"/>
                <a:cs typeface="Consolas"/>
                <a:ea typeface="Consolas"/>
              </a:rPr>
              <a:t>lit_buffer</a:t>
            </a:r>
          </a:p>
          <a:p>
            <a:pPr algn="ctr" rtl="0">
              <a:spcAft>
                <a:spcPts val="100"/>
              </a:spcAft>
            </a:pPr>
            <a:r>
              <a:rPr sz="90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chars between LIT_BEGIN and LIT_END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2377440" cy="38404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token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148840"/>
            <a:ext cx="4937760" cy="38404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branch taken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148840"/>
            <a:ext cx="3858768" cy="38404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state after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51176"/>
            <a:ext cx="2377440" cy="4389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&lt;s&gt;  (1)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2551176"/>
            <a:ext cx="4937760" cy="4389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skipped — pad / bos / eos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551176"/>
            <a:ext cx="3858768" cy="4389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90088"/>
            <a:ext cx="2377440" cy="438912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[CLITICP_و]  (6)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2990088"/>
            <a:ext cx="4937760" cy="438912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clitic_prefix.append('و')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2990088"/>
            <a:ext cx="3858768" cy="438912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prefix = ['و']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29000"/>
            <a:ext cx="2377440" cy="4389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[ROOT_ذهب]  (354)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3429000"/>
            <a:ext cx="4937760" cy="4389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dump_orphan_root(); pending_root = 'ذهب'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3429000"/>
            <a:ext cx="3858768" cy="4389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pending = 'ذهب'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67912"/>
            <a:ext cx="2377440" cy="438912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[PAT_يَ1ْ2َ3ُونَ]  (3423)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3867912"/>
            <a:ext cx="4937760" cy="438912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_reconstruct(354, 3423) → 'يذهبون'; flush prepends 'و'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3867912"/>
            <a:ext cx="3858768" cy="438912"/>
          </a:xfrm>
          <a:prstGeom prst="roundRect">
            <a:avLst>
              <a:gd name="adj" fmla="val 2000"/>
            </a:avLst>
          </a:prstGeom>
          <a:solidFill>
            <a:srgbClr val="DCFCE7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out = ['ويذهبون']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306824"/>
            <a:ext cx="2377440" cy="4389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&lt;/s&gt;  (2)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80360" y="4306824"/>
            <a:ext cx="4937760" cy="4389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skipped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4306824"/>
            <a:ext cx="3858768" cy="4389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46320"/>
            <a:ext cx="5394960" cy="502920"/>
          </a:xfrm>
          <a:prstGeom prst="roundRect">
            <a:avLst>
              <a:gd name="adj" fmla="val 12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result: «ويذهبون» — exact round trip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773168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20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_reconstruct() — three tiers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5074920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TIER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5074920"/>
            <a:ext cx="4361688" cy="384048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0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lookup table  (60,248 entries)   —   hits ~99 % · O(1)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513831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TIER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5513831"/>
            <a:ext cx="4361688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CAMeL Generator via the bridge   —   naive-fill → re-analyse → return stem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5952744"/>
            <a:ext cx="960120" cy="384048"/>
          </a:xfrm>
          <a:prstGeom prst="roundRect">
            <a:avLst>
              <a:gd name="adj" fmla="val 20000"/>
            </a:avLst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TIER 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5952744"/>
            <a:ext cx="4361688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naive slot substitution   —   wrong on weak roots: قَوَلَ not قال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382512"/>
            <a:ext cx="1115568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For يذهب tier 1 hits and tiers 2–3 never run — the expected case, since the LM was trained on exactly this pair distribution.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Same machinery, three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115568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Which branch a word takes decides whether AraRooPat behaves like a morphological tokenizer or a character tokenizer.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3675887" cy="73152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يذهب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84831"/>
            <a:ext cx="3675887" cy="329184"/>
          </a:xfrm>
          <a:prstGeom prst="roundRect">
            <a:avLst>
              <a:gd name="adj" fmla="val 18000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Arial"/>
                <a:cs typeface="Arial"/>
                <a:ea typeface="Arial"/>
              </a:rPr>
              <a:t>root + 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23744"/>
            <a:ext cx="3675887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CAMeL: root 'ذ.ه.ب' 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07791"/>
            <a:ext cx="3675887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pattern يَ1ْ2َ3 in vocab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91839"/>
            <a:ext cx="3675887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no clitics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85615"/>
            <a:ext cx="3675887" cy="329184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1143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rial"/>
                <a:cs typeface="Arial"/>
                <a:ea typeface="Arial"/>
              </a:rPr>
              <a:t>&lt;s&gt;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160520"/>
            <a:ext cx="3675887" cy="329184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1143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rial"/>
                <a:cs typeface="Arial"/>
                <a:ea typeface="Arial"/>
              </a:rPr>
              <a:t>[ROOT_ذهب]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35424"/>
            <a:ext cx="3675887" cy="329184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1143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rial"/>
                <a:cs typeface="Arial"/>
                <a:ea typeface="Arial"/>
              </a:rPr>
              <a:t>[PAT_يَ1ْ2َ3]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910328"/>
            <a:ext cx="3675887" cy="329184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1143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rial"/>
                <a:cs typeface="Arial"/>
                <a:ea typeface="Arial"/>
              </a:rPr>
              <a:t>&lt;/s&gt;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705856"/>
            <a:ext cx="3675887" cy="38404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[1, 354, 3298, 2]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6126480"/>
            <a:ext cx="3675887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rial"/>
                <a:cs typeface="Arial"/>
                <a:ea typeface="Arial"/>
              </a:rPr>
              <a:t>2 content tokens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42816" y="1280160"/>
            <a:ext cx="3675887" cy="731520"/>
          </a:xfrm>
          <a:prstGeom prst="roundRect">
            <a:avLst>
              <a:gd name="adj" fmla="val 1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ويذهبون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2816" y="2084831"/>
            <a:ext cx="3675887" cy="329184"/>
          </a:xfrm>
          <a:prstGeom prst="roundRect">
            <a:avLst>
              <a:gd name="adj" fmla="val 18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clitic split 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2523744"/>
            <a:ext cx="3675887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prc2 = 'wa_part' → 'و'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2816" y="2907791"/>
            <a:ext cx="3675887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pattern وَيَ1ْ2َ3ُونَ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42816" y="3291839"/>
            <a:ext cx="3675887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→ strip 'و' → يَ1ْ2َ3ُونَ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2816" y="3785615"/>
            <a:ext cx="3675887" cy="329184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143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&lt;s&gt;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42816" y="4160520"/>
            <a:ext cx="3675887" cy="329184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143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[CLITICP_و]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42816" y="4535424"/>
            <a:ext cx="3675887" cy="329184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143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[ROOT_ذهب]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42816" y="4910328"/>
            <a:ext cx="3675887" cy="329184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143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[PAT_يَ1ْ2َ3ُونَ]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42816" y="5285232"/>
            <a:ext cx="3675887" cy="329184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143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&lt;/s&gt;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42816" y="5705856"/>
            <a:ext cx="3675887" cy="38404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[1, 6, 354, 3423, 2]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42816" y="6126480"/>
            <a:ext cx="3675887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3 content tokens · same root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82712" y="1280160"/>
            <a:ext cx="3675887" cy="731520"/>
          </a:xfrm>
          <a:prstGeom prst="roundRect">
            <a:avLst>
              <a:gd name="adj" fmla="val 10000"/>
            </a:avLst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الولد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82712" y="2084831"/>
            <a:ext cx="3675887" cy="329184"/>
          </a:xfrm>
          <a:prstGeom prst="roundRect">
            <a:avLst>
              <a:gd name="adj" fmla="val 18000"/>
            </a:avLst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LIT fallback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82712" y="2523744"/>
            <a:ext cx="3675887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CAMeL: root '#.ل.د'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82712" y="2907791"/>
            <a:ext cx="3675887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strip # → 'لد'  (2 letters)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82712" y="3291839"/>
            <a:ext cx="3675887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10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REJECTED by the length rule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82712" y="3785615"/>
            <a:ext cx="3675887" cy="329184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143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&lt;s&gt;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82712" y="4160520"/>
            <a:ext cx="3675887" cy="329184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143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[LIT_BEGIN]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82712" y="4535424"/>
            <a:ext cx="3675887" cy="329184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143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[CHAR_ا][CHAR_ل][CHAR_و][CHAR_ل][CHAR_د]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82712" y="4910328"/>
            <a:ext cx="3675887" cy="329184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143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[LIT_END]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82712" y="5285232"/>
            <a:ext cx="3675887" cy="329184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1430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&lt;/s&gt;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82712" y="5705856"/>
            <a:ext cx="3675887" cy="384048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onsolas"/>
                <a:cs typeface="Consolas"/>
                <a:ea typeface="Consolas"/>
              </a:rPr>
              <a:t>[1, 4, 36, 59, 63, 59, 44, 5, 2]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82712" y="6126480"/>
            <a:ext cx="3675887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7 tokens for a 5-character word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Why a pattern contains 1 2 3 — and where real non-Arabic characters do leak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115568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The digits are CAMeL's positional slots, not text. The classical Arabic wazn writes the same thing with ف ع ل.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11173968" cy="566928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A pattern is a template with numbered holes:   digit n = the n-th root consonant   ·   every other character is literal template material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3017520" cy="411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CAMeL slot notation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2011680"/>
            <a:ext cx="3017520" cy="411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classical wazn (ف ع 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59" y="2011680"/>
            <a:ext cx="1691640" cy="411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root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011680"/>
            <a:ext cx="3447288" cy="411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surface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50592"/>
            <a:ext cx="3017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يَ1ْ2َ3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2450592"/>
            <a:ext cx="3017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يَفْعَل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59" y="245059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ذهب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450592"/>
            <a:ext cx="3447288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يذهب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16936"/>
            <a:ext cx="3017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1َ2َ3َ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39" y="2916936"/>
            <a:ext cx="3017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فَعَلَ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59" y="2916936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ذهب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916936"/>
            <a:ext cx="3447288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ذهب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383280"/>
            <a:ext cx="3017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مَ1ْ2َ3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39" y="3383280"/>
            <a:ext cx="3017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مَفْعَل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59" y="338328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ذهب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383280"/>
            <a:ext cx="3447288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مذهب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849624"/>
            <a:ext cx="3017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1ا2ِ3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39" y="3849624"/>
            <a:ext cx="3017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فاعِل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59" y="3849624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ذهب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849624"/>
            <a:ext cx="3447288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ذاهب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315968"/>
            <a:ext cx="3017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مَ1ا2ِ3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39" y="4315968"/>
            <a:ext cx="3017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مَفاعِل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59" y="431596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ذهب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315968"/>
            <a:ext cx="3447288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مذاهب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782312"/>
            <a:ext cx="3017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1َ2ِي3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20439" y="4782312"/>
            <a:ext cx="3017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فَعِيل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59" y="478231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كتب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4782312"/>
            <a:ext cx="3447288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3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كتيب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349240"/>
            <a:ext cx="5532120" cy="932688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200"/>
              </a:spcAft>
            </a:pPr>
            <a:r>
              <a:rPr sz="115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Verified: 0 of 500 pattern tokens contain a non-Arabic letter</a:t>
            </a:r>
          </a:p>
          <a:p>
            <a:pPr algn="ctr" rtl="0"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Every [PAT_*] body is Arabic letters + diacritics + slot digits 1–4 only.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4768" y="5349240"/>
            <a:ext cx="5532120" cy="932688"/>
          </a:xfrm>
          <a:prstGeom prst="roundRect">
            <a:avLst>
              <a:gd name="adj" fmla="val 10000"/>
            </a:avLst>
          </a:prstGeom>
          <a:solidFill>
            <a:srgbClr val="FFE4E6"/>
          </a:solidFill>
          <a:ln w="15875">
            <a:solidFill>
              <a:srgbClr val="BE1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200"/>
              </a:spcAft>
            </a:pPr>
            <a:r>
              <a:rPr sz="1150" b="1">
                <a:solidFill>
                  <a:srgbClr val="BE123C"/>
                </a:solidFill>
                <a:latin typeface="Arial"/>
                <a:cs typeface="Arial"/>
                <a:ea typeface="Arial"/>
              </a:rPr>
              <a:t>But 6 vocabulary entries DO leak Latin text</a:t>
            </a:r>
          </a:p>
          <a:p>
            <a:pPr algn="ctr" rtl="0"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[ROOT_FOREIGN] (freq 61) · [ROOT_Uٌٍ] (3) · [CLITICP_la_emph] (12,676) ·
[CLITICP_la_rc] (1,904) · [CLITICP_&gt;a_ques] (8) · [CLITICE_mA_sub] (6)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382512"/>
            <a:ext cx="1115568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9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Untranslated CAMeL feature tags + a FOREIGN root marker the NTWS guard does not catch. Fixed in araroopat_backend.py — takes effect on the next tokenizer training run.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669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26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Inside the transformer — what each box hands to the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1155680" cy="31089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Real forward pass of «يذهب» (4 tokens, fp32). ‖·‖ values are the L2 norm at position 2 = [PAT_يَ1ْ2َ3].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4160520" cy="365760"/>
          </a:xfrm>
          <a:prstGeom prst="roundRect">
            <a:avLst>
              <a:gd name="adj" fmla="val 1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input_ids  [1, 4]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C7D2FE"/>
                </a:solidFill>
                <a:latin typeface="Consolas"/>
                <a:cs typeface="Consolas"/>
                <a:ea typeface="Consolas"/>
              </a:rPr>
              <a:t>[ 1, 354, 3298, 2 ]</a:t>
            </a:r>
          </a:p>
        </p:txBody>
      </p:sp>
      <p:sp>
        <p:nvSpPr>
          <p:cNvPr id="6" name="Down Arrow 5"/>
          <p:cNvSpPr/>
          <p:nvPr/>
        </p:nvSpPr>
        <p:spPr>
          <a:xfrm>
            <a:off x="2514600" y="1499616"/>
            <a:ext cx="146304" cy="109728"/>
          </a:xfrm>
          <a:prstGeom prst="down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416052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embed_tokens — Embedding(3784, 2048)</a:t>
            </a:r>
          </a:p>
          <a:p>
            <a:pPr algn="ctr" rtl="0">
              <a:spcAft>
                <a:spcPts val="0"/>
              </a:spcAft>
            </a:pPr>
            <a:r>
              <a:rPr sz="850" b="1">
                <a:solidFill>
                  <a:srgbClr val="6D28D9"/>
                </a:solidFill>
                <a:latin typeface="Consolas"/>
                <a:cs typeface="Consolas"/>
                <a:ea typeface="Consolas"/>
              </a:rPr>
              <a:t>out  [1, 4, 2048]      ‖·‖ = 1.161</a:t>
            </a:r>
          </a:p>
        </p:txBody>
      </p:sp>
      <p:sp>
        <p:nvSpPr>
          <p:cNvPr id="8" name="Down Arrow 7"/>
          <p:cNvSpPr/>
          <p:nvPr/>
        </p:nvSpPr>
        <p:spPr>
          <a:xfrm>
            <a:off x="2514600" y="2066543"/>
            <a:ext cx="146304" cy="109728"/>
          </a:xfrm>
          <a:prstGeom prst="down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212848"/>
            <a:ext cx="4160520" cy="3127248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2032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240280"/>
            <a:ext cx="4069080" cy="27432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decoder layer  ×  16   (LlamaDecoderLayer)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60320"/>
            <a:ext cx="3849624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88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input_layernorm — RMSNorm(2048)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D28D9"/>
                </a:solidFill>
                <a:latin typeface="Consolas"/>
                <a:cs typeface="Consolas"/>
                <a:ea typeface="Consolas"/>
              </a:rPr>
              <a:t>out  [1, 4, 2048]      ‖·‖ = 9.953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1"/>
            <a:ext cx="3849624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88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q_proj 2048→2048 (32 h)  ·  k_proj →512 (8 h)  ·  v_proj →512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D28D9"/>
                </a:solidFill>
                <a:latin typeface="Consolas"/>
                <a:cs typeface="Consolas"/>
                <a:ea typeface="Consolas"/>
              </a:rPr>
              <a:t>q ‖·‖ = 76.4    k ‖·‖ = 41.4    v ‖·‖ = 2.53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255263"/>
            <a:ext cx="3849624" cy="310896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88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RoPE — rotate q and k by position   ← position enters HERE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B45309"/>
                </a:solidFill>
                <a:latin typeface="Consolas"/>
                <a:cs typeface="Consolas"/>
                <a:ea typeface="Consolas"/>
              </a:rPr>
              <a:t>cos, sin  [1, 4, 64]   ·   0 trainable parameters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602735"/>
            <a:ext cx="3849624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88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softmax(Q Kᵀ / √64) V   causal  →  o_proj 2048→2048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D28D9"/>
                </a:solidFill>
                <a:latin typeface="Consolas"/>
                <a:cs typeface="Consolas"/>
                <a:ea typeface="Consolas"/>
              </a:rPr>
              <a:t>attn out  [1, 4, 2048]      ‖·‖ = 1.923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50207"/>
            <a:ext cx="3849624" cy="310896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88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⊕  residual:  hidden = hidden + attn_out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15803D"/>
                </a:solidFill>
                <a:latin typeface="Consolas"/>
                <a:cs typeface="Consolas"/>
                <a:ea typeface="Consolas"/>
              </a:rPr>
              <a:t>‖·‖ = 1.161 ⊕ 1.923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297679"/>
            <a:ext cx="3849624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88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post_attention_layernorm — RMSNorm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D28D9"/>
                </a:solidFill>
                <a:latin typeface="Consolas"/>
                <a:cs typeface="Consolas"/>
                <a:ea typeface="Consolas"/>
              </a:rPr>
              <a:t>out  ‖·‖ = 9.611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645151"/>
            <a:ext cx="3849624" cy="3108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88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MLP  down( SiLU(gate(x)) ⊙ up(x) )   2048→8192→2048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6D28D9"/>
                </a:solidFill>
                <a:latin typeface="Consolas"/>
                <a:cs typeface="Consolas"/>
                <a:ea typeface="Consolas"/>
              </a:rPr>
              <a:t>mlp out  [1, 4, 2048]      ‖·‖ = 10.540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992623"/>
            <a:ext cx="3849624" cy="310896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889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88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⊕  residual:  hidden = hidden + mlp_out</a:t>
            </a:r>
          </a:p>
          <a:p>
            <a:pPr algn="l" rtl="0">
              <a:spcAft>
                <a:spcPts val="0"/>
              </a:spcAft>
            </a:pPr>
            <a:r>
              <a:rPr sz="760" b="0">
                <a:solidFill>
                  <a:srgbClr val="15803D"/>
                </a:solidFill>
                <a:latin typeface="Consolas"/>
                <a:cs typeface="Consolas"/>
                <a:ea typeface="Consolas"/>
              </a:rPr>
              <a:t>layer output  ‖·‖ = 11.095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514600" y="5358384"/>
            <a:ext cx="146304" cy="109728"/>
          </a:xfrm>
          <a:prstGeom prst="down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5504688"/>
            <a:ext cx="416052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model.norm — RMSNorm(2048)</a:t>
            </a:r>
          </a:p>
          <a:p>
            <a:pPr algn="ctr" rtl="0">
              <a:spcAft>
                <a:spcPts val="0"/>
              </a:spcAft>
            </a:pPr>
            <a:r>
              <a:rPr sz="850" b="1">
                <a:solidFill>
                  <a:srgbClr val="6D28D9"/>
                </a:solidFill>
                <a:latin typeface="Consolas"/>
                <a:cs typeface="Consolas"/>
                <a:ea typeface="Consolas"/>
              </a:rPr>
              <a:t>out  [1, 4, 2048]      ‖·‖ = 46.817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514600" y="5907024"/>
            <a:ext cx="146304" cy="109728"/>
          </a:xfrm>
          <a:prstGeom prst="downArrow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6053328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lm_head — tied Wᵀ, 2048 → 3,784</a:t>
            </a:r>
          </a:p>
          <a:p>
            <a:pPr algn="ctr" rtl="0">
              <a:spcAft>
                <a:spcPts val="0"/>
              </a:spcAft>
            </a:pPr>
            <a:r>
              <a:rPr sz="850" b="0">
                <a:solidFill>
                  <a:srgbClr val="DDD6FE"/>
                </a:solidFill>
                <a:latin typeface="Consolas"/>
                <a:cs typeface="Consolas"/>
                <a:ea typeface="Consolas"/>
              </a:rPr>
              <a:t>logits [1, 4, 3784]  →  log_softmax  →  argmax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1115568"/>
            <a:ext cx="6839712" cy="23957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1152144"/>
            <a:ext cx="658368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25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«token + position» — where each one actually enters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1481328"/>
            <a:ext cx="3246120" cy="1700784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587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10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1 · TOKEN  — a lookup, nothing more</a:t>
            </a:r>
          </a:p>
          <a:p>
            <a:pPr algn="l" rtl="0">
              <a:spcAft>
                <a:spcPts val="100"/>
              </a:spcAft>
            </a:pPr>
            <a:r>
              <a:rPr sz="90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E[354]   ROOT_ذهب</a:t>
            </a:r>
          </a:p>
          <a:p>
            <a:pPr algn="l" rtl="0">
              <a:spcAft>
                <a:spcPts val="100"/>
              </a:spcAft>
            </a:pPr>
            <a:r>
              <a:rPr sz="819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[-0.0092, -0.0187, -0.0160, …]  ‖·‖=1.1228</a:t>
            </a:r>
          </a:p>
          <a:p>
            <a:pPr algn="l" rtl="0">
              <a:spcAft>
                <a:spcPts val="100"/>
              </a:spcAft>
            </a:pPr>
            <a:r>
              <a:rPr sz="90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E[3298]  PAT_يَ1ْ2َ3</a:t>
            </a:r>
          </a:p>
          <a:p>
            <a:pPr algn="l" rtl="0">
              <a:spcAft>
                <a:spcPts val="100"/>
              </a:spcAft>
            </a:pPr>
            <a:r>
              <a:rPr sz="819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[-0.0018, +0.0072, +0.0081, …]  ‖·‖=1.1613</a:t>
            </a:r>
          </a:p>
          <a:p>
            <a:pPr algn="ctr" rtl="0">
              <a:spcAft>
                <a:spcPts val="100"/>
              </a:spcAft>
            </a:pPr>
            <a:r>
              <a:rPr sz="9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hidden_states[0] IS this gather —</a:t>
            </a:r>
          </a:p>
          <a:p>
            <a:pPr algn="ctr" rtl="0">
              <a:spcAft>
                <a:spcPts val="100"/>
              </a:spcAft>
            </a:pPr>
            <a:r>
              <a:rPr sz="900" b="1">
                <a:solidFill>
                  <a:srgbClr val="4338CA"/>
                </a:solidFill>
                <a:latin typeface="Arial"/>
                <a:cs typeface="Arial"/>
                <a:ea typeface="Arial"/>
              </a:rPr>
              <a:t>nothing is summed into 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1481328"/>
            <a:ext cx="3182112" cy="1700784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100"/>
              </a:spcAft>
            </a:pPr>
            <a:r>
              <a:rPr sz="1000" b="1">
                <a:solidFill>
                  <a:srgbClr val="B45309"/>
                </a:solidFill>
                <a:latin typeface="Arial"/>
                <a:cs typeface="Arial"/>
                <a:ea typeface="Arial"/>
              </a:rPr>
              <a:t>2 · POSITION — no vector is added</a:t>
            </a:r>
          </a:p>
          <a:p>
            <a:pPr algn="ctr" rtl="0">
              <a:spcAft>
                <a:spcPts val="100"/>
              </a:spcAft>
            </a:pPr>
            <a:r>
              <a:rPr sz="86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LLaMA-3.2 has no wpe / learned pos table.</a:t>
            </a:r>
          </a:p>
          <a:p>
            <a:pPr algn="l" rtl="0">
              <a:spcAft>
                <a:spcPts val="100"/>
              </a:spcAft>
            </a:pPr>
            <a:r>
              <a:rPr sz="84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inv_freq = 1 / 500000^(2i/64)   ·  32 values</a:t>
            </a:r>
          </a:p>
          <a:p>
            <a:pPr algn="l" rtl="0">
              <a:spcAft>
                <a:spcPts val="100"/>
              </a:spcAft>
            </a:pPr>
            <a:r>
              <a:rPr sz="84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  [1.0, 0.6636, 0.4404, 0.2922, …]</a:t>
            </a:r>
          </a:p>
          <a:p>
            <a:pPr algn="l" rtl="0">
              <a:spcAft>
                <a:spcPts val="100"/>
              </a:spcAft>
            </a:pPr>
            <a:r>
              <a:rPr sz="84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pos0  cos [1.000, 1.000]   sin [0.000, 0.000]</a:t>
            </a:r>
          </a:p>
          <a:p>
            <a:pPr algn="l" rtl="0">
              <a:spcAft>
                <a:spcPts val="100"/>
              </a:spcAft>
            </a:pPr>
            <a:r>
              <a:rPr sz="840" b="0">
                <a:solidFill>
                  <a:srgbClr val="64748B"/>
                </a:solidFill>
                <a:latin typeface="Consolas"/>
                <a:cs typeface="Consolas"/>
                <a:ea typeface="Consolas"/>
              </a:rPr>
              <a:t>pos2  cos [-0.416, 0.241]  sin [0.909, 0.971]</a:t>
            </a:r>
          </a:p>
          <a:p>
            <a:pPr algn="ctr" rtl="0">
              <a:spcAft>
                <a:spcPts val="100"/>
              </a:spcAft>
            </a:pPr>
            <a:r>
              <a:rPr sz="900" b="1">
                <a:solidFill>
                  <a:srgbClr val="B45309"/>
                </a:solidFill>
                <a:latin typeface="Arial"/>
                <a:cs typeface="Arial"/>
                <a:ea typeface="Arial"/>
              </a:rPr>
              <a:t>q′ = q⊙cos + rotate_half(q)⊙sin   (q, k only)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3639312"/>
            <a:ext cx="3246120" cy="17556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3675887"/>
            <a:ext cx="3017520" cy="2377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00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attention · layer 15, head 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56048" y="3959352"/>
            <a:ext cx="914400" cy="219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20" b="0">
                <a:solidFill>
                  <a:srgbClr val="64748B"/>
                </a:solidFill>
                <a:latin typeface="Arial"/>
                <a:cs typeface="Arial"/>
                <a:ea typeface="Arial"/>
              </a:rPr>
              <a:t>query ↓ key 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70448" y="3959352"/>
            <a:ext cx="512064" cy="219456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5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&lt;s&gt;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959352"/>
            <a:ext cx="512064" cy="219456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5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ROOT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31152" y="3959352"/>
            <a:ext cx="512064" cy="219456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5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PAT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61504" y="3959352"/>
            <a:ext cx="512064" cy="219456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5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&lt;/s&gt;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56048" y="4197096"/>
            <a:ext cx="914400" cy="219456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5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&lt;s&gt;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70448" y="4197096"/>
            <a:ext cx="512064" cy="219456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1.00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197096"/>
            <a:ext cx="512064" cy="219456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0">
                <a:solidFill>
                  <a:srgbClr val="CBD5E1"/>
                </a:solidFill>
                <a:latin typeface="Arial"/>
                <a:cs typeface="Arial"/>
                <a:ea typeface="Arial"/>
              </a:rPr>
              <a:t>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31152" y="4197096"/>
            <a:ext cx="512064" cy="219456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0">
                <a:solidFill>
                  <a:srgbClr val="CBD5E1"/>
                </a:solidFill>
                <a:latin typeface="Arial"/>
                <a:cs typeface="Arial"/>
                <a:ea typeface="Arial"/>
              </a:rPr>
              <a:t>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61504" y="4197096"/>
            <a:ext cx="512064" cy="219456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0">
                <a:solidFill>
                  <a:srgbClr val="CBD5E1"/>
                </a:solidFill>
                <a:latin typeface="Arial"/>
                <a:cs typeface="Arial"/>
                <a:ea typeface="Arial"/>
              </a:rPr>
              <a:t>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56048" y="4434840"/>
            <a:ext cx="914400" cy="219456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5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ROOT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70448" y="4434840"/>
            <a:ext cx="512064" cy="219456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0.52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434840"/>
            <a:ext cx="512064" cy="219456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0.48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31152" y="4434840"/>
            <a:ext cx="512064" cy="219456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0">
                <a:solidFill>
                  <a:srgbClr val="CBD5E1"/>
                </a:solidFill>
                <a:latin typeface="Arial"/>
                <a:cs typeface="Arial"/>
                <a:ea typeface="Arial"/>
              </a:rPr>
              <a:t>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61504" y="4434840"/>
            <a:ext cx="512064" cy="219456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0">
                <a:solidFill>
                  <a:srgbClr val="CBD5E1"/>
                </a:solidFill>
                <a:latin typeface="Arial"/>
                <a:cs typeface="Arial"/>
                <a:ea typeface="Arial"/>
              </a:rPr>
              <a:t>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56048" y="4672583"/>
            <a:ext cx="914400" cy="219456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5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PAT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70448" y="4672583"/>
            <a:ext cx="512064" cy="219456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0">
                <a:solidFill>
                  <a:srgbClr val="CBD5E1"/>
                </a:solidFill>
                <a:latin typeface="Arial"/>
                <a:cs typeface="Arial"/>
                <a:ea typeface="Arial"/>
              </a:rPr>
              <a:t>0.00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4672583"/>
            <a:ext cx="512064" cy="219456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0">
                <a:solidFill>
                  <a:srgbClr val="CBD5E1"/>
                </a:solidFill>
                <a:latin typeface="Arial"/>
                <a:cs typeface="Arial"/>
                <a:ea typeface="Arial"/>
              </a:rPr>
              <a:t>0.00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31152" y="4672583"/>
            <a:ext cx="512064" cy="219456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1.00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61504" y="4672583"/>
            <a:ext cx="512064" cy="219456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0">
                <a:solidFill>
                  <a:srgbClr val="CBD5E1"/>
                </a:solidFill>
                <a:latin typeface="Arial"/>
                <a:cs typeface="Arial"/>
                <a:ea typeface="Arial"/>
              </a:rPr>
              <a:t>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56048" y="4910328"/>
            <a:ext cx="914400" cy="219456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5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&lt;/s&gt;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70448" y="4910328"/>
            <a:ext cx="512064" cy="219456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0">
                <a:solidFill>
                  <a:srgbClr val="CBD5E1"/>
                </a:solidFill>
                <a:latin typeface="Arial"/>
                <a:cs typeface="Arial"/>
                <a:ea typeface="Arial"/>
              </a:rPr>
              <a:t>0.00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4910328"/>
            <a:ext cx="512064" cy="219456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0">
                <a:solidFill>
                  <a:srgbClr val="CBD5E1"/>
                </a:solidFill>
                <a:latin typeface="Arial"/>
                <a:cs typeface="Arial"/>
                <a:ea typeface="Arial"/>
              </a:rPr>
              <a:t>0.00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31152" y="4910328"/>
            <a:ext cx="512064" cy="219456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0">
                <a:solidFill>
                  <a:srgbClr val="6D28D9"/>
                </a:solidFill>
                <a:latin typeface="Arial"/>
                <a:cs typeface="Arial"/>
                <a:ea typeface="Arial"/>
              </a:rPr>
              <a:t>0.11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61504" y="4910328"/>
            <a:ext cx="512064" cy="219456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0.89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75320" y="3639312"/>
            <a:ext cx="3410712" cy="17556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85048" y="3675887"/>
            <a:ext cx="3200400" cy="2377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00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the residual stream is literally a sum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85048" y="3959352"/>
            <a:ext cx="3191256" cy="132588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87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950" b="1">
                <a:solidFill>
                  <a:srgbClr val="15803D"/>
                </a:solidFill>
                <a:latin typeface="Consolas"/>
                <a:cs typeface="Consolas"/>
                <a:ea typeface="Consolas"/>
              </a:rPr>
              <a:t>layer0_out = embed + attn_out + mlp_out</a:t>
            </a:r>
          </a:p>
          <a:p>
            <a:pPr algn="ctr" rtl="0">
              <a:spcAft>
                <a:spcPts val="0"/>
              </a:spcAft>
            </a:pPr>
            <a:r>
              <a:rPr sz="30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/>
            </a:r>
          </a:p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embed      ‖·‖ =  1.1613</a:t>
            </a:r>
          </a:p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attn_out   ‖·‖ =  1.9228</a:t>
            </a:r>
          </a:p>
          <a:p>
            <a:pPr algn="l" rtl="0"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mlp_out    ‖·‖ = 10.5403</a:t>
            </a:r>
          </a:p>
          <a:p>
            <a:pPr algn="l" rtl="0">
              <a:spcAft>
                <a:spcPts val="0"/>
              </a:spcAft>
            </a:pPr>
            <a:r>
              <a:rPr sz="900" b="1">
                <a:solidFill>
                  <a:srgbClr val="0F172A"/>
                </a:solidFill>
                <a:latin typeface="Consolas"/>
                <a:cs typeface="Consolas"/>
                <a:ea typeface="Consolas"/>
              </a:rPr>
              <a:t>layer0_out ‖·‖ = 11.0952</a:t>
            </a:r>
          </a:p>
          <a:p>
            <a:pPr algn="ctr" rtl="0">
              <a:spcAft>
                <a:spcPts val="0"/>
              </a:spcAft>
            </a:pPr>
            <a:r>
              <a:rPr sz="860" b="1">
                <a:solidFill>
                  <a:srgbClr val="15803D"/>
                </a:solidFill>
                <a:latin typeface="Arial"/>
                <a:cs typeface="Arial"/>
                <a:ea typeface="Arial"/>
              </a:rPr>
              <a:t>torch.allclose(l0, e + attn + mlp) → True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5449824"/>
            <a:ext cx="6766560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 rtl="0"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‖hidden‖ at each position, by depth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46320" y="5687568"/>
            <a:ext cx="1828800" cy="20116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/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675120" y="5687568"/>
            <a:ext cx="1252728" cy="20116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pos0  &lt;s&gt;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27848" y="5687568"/>
            <a:ext cx="1252728" cy="20116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pos1  ROOT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80576" y="5687568"/>
            <a:ext cx="1252728" cy="20116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pos2  PAT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433304" y="5687568"/>
            <a:ext cx="1252728" cy="201168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Arial"/>
                <a:cs typeface="Arial"/>
                <a:ea typeface="Arial"/>
              </a:rPr>
              <a:t>pos3  &lt;/s&gt;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0" y="5888736"/>
            <a:ext cx="1828800" cy="2011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78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embed_tokens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675120" y="5888736"/>
            <a:ext cx="1252728" cy="2011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0.932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927848" y="5888736"/>
            <a:ext cx="1252728" cy="2011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1.123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180576" y="5888736"/>
            <a:ext cx="1252728" cy="201168"/>
          </a:xfrm>
          <a:prstGeom prst="roundRect">
            <a:avLst>
              <a:gd name="adj" fmla="val 2000"/>
            </a:avLst>
          </a:prstGeom>
          <a:solidFill>
            <a:srgbClr val="EDE9FE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1.161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433304" y="5888736"/>
            <a:ext cx="1252728" cy="2011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0.943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846320" y="6089904"/>
            <a:ext cx="1828800" cy="201168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78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layer 0 out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675120" y="6089904"/>
            <a:ext cx="1252728" cy="201168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13.856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927848" y="6089904"/>
            <a:ext cx="1252728" cy="201168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7.760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180576" y="6089904"/>
            <a:ext cx="1252728" cy="201168"/>
          </a:xfrm>
          <a:prstGeom prst="roundRect">
            <a:avLst>
              <a:gd name="adj" fmla="val 2000"/>
            </a:avLst>
          </a:prstGeom>
          <a:solidFill>
            <a:srgbClr val="EDE9FE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11.095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433304" y="6089904"/>
            <a:ext cx="1252728" cy="201168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8.898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846320" y="6291072"/>
            <a:ext cx="1828800" cy="2011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78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layer 15 out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675120" y="6291072"/>
            <a:ext cx="1252728" cy="2011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1622.452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927848" y="6291072"/>
            <a:ext cx="1252728" cy="2011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312.784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180576" y="6291072"/>
            <a:ext cx="1252728" cy="201168"/>
          </a:xfrm>
          <a:prstGeom prst="roundRect">
            <a:avLst>
              <a:gd name="adj" fmla="val 2000"/>
            </a:avLst>
          </a:prstGeom>
          <a:solidFill>
            <a:srgbClr val="EDE9FE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203.566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433304" y="6291072"/>
            <a:ext cx="1252728" cy="2011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173.416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846320" y="6492240"/>
            <a:ext cx="1828800" cy="201168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 rtl="0">
              <a:spcAft>
                <a:spcPts val="0"/>
              </a:spcAft>
            </a:pPr>
            <a:r>
              <a:rPr sz="780" b="1">
                <a:solidFill>
                  <a:srgbClr val="0F172A"/>
                </a:solidFill>
                <a:latin typeface="Arial"/>
                <a:cs typeface="Arial"/>
                <a:ea typeface="Arial"/>
              </a:rPr>
              <a:t>after model.norm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675120" y="6492240"/>
            <a:ext cx="1252728" cy="201168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68.743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927848" y="6492240"/>
            <a:ext cx="1252728" cy="201168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89.045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180576" y="6492240"/>
            <a:ext cx="1252728" cy="201168"/>
          </a:xfrm>
          <a:prstGeom prst="roundRect">
            <a:avLst>
              <a:gd name="adj" fmla="val 2000"/>
            </a:avLst>
          </a:prstGeom>
          <a:solidFill>
            <a:srgbClr val="EDE9FE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1">
                <a:solidFill>
                  <a:srgbClr val="6D28D9"/>
                </a:solidFill>
                <a:latin typeface="Arial"/>
                <a:cs typeface="Arial"/>
                <a:ea typeface="Arial"/>
              </a:rPr>
              <a:t>46.817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433304" y="6492240"/>
            <a:ext cx="1252728" cy="201168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0">
              <a:spcAft>
                <a:spcPts val="0"/>
              </a:spcAft>
            </a:pPr>
            <a:r>
              <a:rPr sz="780" b="0">
                <a:solidFill>
                  <a:srgbClr val="0F172A"/>
                </a:solidFill>
                <a:latin typeface="Arial"/>
                <a:cs typeface="Arial"/>
                <a:ea typeface="Arial"/>
              </a:rPr>
              <a:t>45.665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